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問題與資料" id="{8afa6108-3547-5afe-1f23-03938dae72aa}">
          <p14:sldIdLst>
            <p14:sldId id="256"/>
            <p14:sldId id="257"/>
          </p14:sldIdLst>
        </p14:section>
        <p14:section name="方法與計分" id="{cd74f4b9-effa-e71b-4808-d62fa66ec366}">
          <p14:sldIdLst>
            <p14:sldId id="258"/>
            <p14:sldId id="259"/>
          </p14:sldIdLst>
        </p14:section>
        <p14:section name="結果" id="{82dd5203-09d4-d71d-eef9-e983178ecfef}">
          <p14:sldIdLst>
            <p14:sldId id="260"/>
            <p14:sldId id="261"/>
            <p14:sldId id="262"/>
          </p14:sldIdLst>
        </p14:section>
        <p14:section name="總結" id="{310b7bf4-7de3-f253-fbee-7913481f5df8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三類標籤比例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訓練 2020–2023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7.5</c:v>
                </c:pt>
                <c:pt idx="1">
                  <c:v>84.6</c:v>
                </c:pt>
                <c:pt idx="2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測試 2025–2026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低點</c:v>
                  </c:pt>
                  <c:pt idx="1">
                    <c:v>非極值</c:v>
                  </c:pt>
                  <c:pt idx="2">
                    <c:v>高點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7.6</c:v>
                </c:pt>
                <c:pt idx="1">
                  <c:v>85.1</c:v>
                </c:pt>
                <c:pt idx="2">
                  <c:v>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20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202A"/>
                </a:solidFill>
                <a:latin typeface="+mn-lt"/>
              </a:rPr>
              <a:t>命中率:判成高(低)點的日子中真的是高(低)點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隨機挑一天</c:v>
                </c:pt>
              </c:strCache>
            </c:strRef>
          </c:tx>
          <c:spPr>
            <a:solidFill>
              <a:srgbClr val="C9D2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7.3</c:v>
                </c:pt>
                <c:pt idx="1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規則基準</c:v>
                </c:pt>
              </c:strCache>
            </c:strRef>
          </c:tx>
          <c:spPr>
            <a:solidFill>
              <a:srgbClr val="7A869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25.4</c:v>
                </c:pt>
                <c:pt idx="1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規則 + AE + OC-SVM</c:v>
                </c:pt>
              </c:strCache>
            </c:strRef>
          </c:tx>
          <c:spPr>
            <a:solidFill>
              <a:srgbClr val="132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4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高點</c:v>
                  </c:pt>
                  <c:pt idx="1">
                    <c:v>低點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24.9</c:v>
                </c:pt>
                <c:pt idx="1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4754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754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4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每個樣本是連續 11 個交易日,中間的第 6 天叫 t。t 日收盤如果是這 11 天最高就標高點、最低就標低點,其他都是非極值。左邊淺色的部分是 t 日收盤當下看得到的;右邊未來 5 天只用來貼標籤,模型看不到。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資料是 TW50 的 50 檔股票,2016 到 2026 年 9 月的還原日 K,總共約 12.9 萬個股票日。訓練用 2020 到 2023 年 48,585 筆,測試用 2025 年到 2026 年 9 月 20,189 筆。高點和低點各只佔 7 到 8%,這個不平衡很重要,後面算 acc 時會再提到。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流程分四步。關鍵在第二步的規則:真正的 11 日高點,一定也是近 6 天的高點,所以規則先把所有可能的候選挑出來,保證不漏。第三步才是我們的 AE 加 OC-SVM,它要從候選裡刪掉那些之後 5 天又被超越的假候選。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模型沿用我們原本系統的 AE 加 OC-SVM。AE 的輸入是 t-5 到 t 六根 K 線的 29 個數字:每天的開高低收都除以 t 日收盤(t 日收盤自己固定是 1,所以拿掉),每天的量除以 10 日均量。AE 只用一層、不先升維,直接把這 29 個數字壓成 16 維,OC-SVM 在這 16 維空間裡圈出真高點候選的範圍。測試時,候選點落在範圍內就保留,否則改判非極值。高點和低點各訓練一組。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這是測試期的混淆矩陣。看第一列和最後一列:真低點有 79.8% 被判成低點,真高點有 70.6% 被判成高點,而且高點和低點從來不會互相判錯。右邊的表比較三種做法,模型的 acc 是 67.7%,判非極值時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這頁是我們說的局部準確度。左圖是命中率:隨機挑一天是高點的機率只有 7.3%,被我們挑出來的候選是 25 到 32%,大約是 3.4 到 4.2 倍。右邊三個數字:真高低點全部進了候選,模型判對 71 到 80%,判非極值時 93.9% 正確。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測試期四種情況的典型例子:左上判對的高點,右上判對的低點,左下是規則挑出來但被模型正確刪掉的假候選,右下是誤報,判了高點但之後又創新高。每一類都是取報酬最接近中位數的窗口,不是挑最好看的。互動網頁(連結:https://claude.ai/artifact/4YudK9qBr4fnsV4NQatjEe,需先分享權限)可以看全部 50 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總結。我們把題目定成找 11 天窗口裡的局部高低點,在 TW50 的測試期:真高低點全部進了候選;模型判出的高點和低點從來不會互相搞錯;模型說「這天不是高低點」時 93.9% 是對的;挑出來的候選是真高低點的機率是隨便挑一天的 3.4 到 4.2 倍。模型最後判對了 71% 的真高點和 80% 的真低點。謝謝。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52704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79222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2057400" y="1417320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2322576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2587752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2852928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3118104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417320"/>
            <a:ext cx="201168" cy="20116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14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Shape 1"/>
          <p:cNvSpPr/>
          <p:nvPr/>
        </p:nvSpPr>
        <p:spPr>
          <a:xfrm>
            <a:off x="1028242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4" name="Shape 2"/>
          <p:cNvSpPr/>
          <p:nvPr/>
        </p:nvSpPr>
        <p:spPr>
          <a:xfrm>
            <a:off x="1041501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5" name="Shape 3"/>
          <p:cNvSpPr/>
          <p:nvPr/>
        </p:nvSpPr>
        <p:spPr>
          <a:xfrm>
            <a:off x="1054760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6" name="Shape 4"/>
          <p:cNvSpPr/>
          <p:nvPr/>
        </p:nvSpPr>
        <p:spPr>
          <a:xfrm>
            <a:off x="1068019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7" name="Shape 5"/>
          <p:cNvSpPr/>
          <p:nvPr/>
        </p:nvSpPr>
        <p:spPr>
          <a:xfrm>
            <a:off x="10812780" y="566928"/>
            <a:ext cx="100584" cy="1005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945368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9" name="Shape 7"/>
          <p:cNvSpPr/>
          <p:nvPr/>
        </p:nvSpPr>
        <p:spPr>
          <a:xfrm>
            <a:off x="11077956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0" name="Shape 8"/>
          <p:cNvSpPr/>
          <p:nvPr/>
        </p:nvSpPr>
        <p:spPr>
          <a:xfrm>
            <a:off x="11210544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1" name="Shape 9"/>
          <p:cNvSpPr/>
          <p:nvPr/>
        </p:nvSpPr>
        <p:spPr>
          <a:xfrm>
            <a:off x="11343132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75720" y="566928"/>
            <a:ext cx="100584" cy="100584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3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TW50 局部高低點偵測 · 專題進度 2026-10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標籤怎麼貼:第 6 天是不是 11 天的最高或最低</a:t>
            </a:r>
            <a:endParaRPr lang="en-US" sz="3200" dirty="0"/>
          </a:p>
        </p:txBody>
      </p:sp>
      <p:pic>
        <p:nvPicPr>
          <p:cNvPr id="3" name="window-example" descr="window_annota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3666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66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實例:台積電 2026-02-25,t 日收盤 2003 是前後各 5 天裡最高 → 高點</a:t>
            </a:r>
            <a:endParaRPr lang="en-US" sz="1200" dirty="0"/>
          </a:p>
        </p:txBody>
      </p:sp>
      <p:sp>
        <p:nvSpPr>
          <p:cNvPr id="5" name="rules"/>
          <p:cNvSpPr/>
          <p:nvPr/>
        </p:nvSpPr>
        <p:spPr>
          <a:xfrm>
            <a:off x="7680960" y="1371600"/>
            <a:ext cx="3931920" cy="42519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3474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窗口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t-5 ~ t+5,共 11 個交易日,t 是第 6 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高點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天最高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低點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 日收盤是 11 天最低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非極值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其餘;與別天並列最高(低)也算高(低)點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判斷時點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日收盤後,只看得到 t-5 ~ 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資料量:TW50 · 2016 ~ 2026 · 12.9 萬個股票日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股票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TW50 成分股 50 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價格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yfinance 還原權息日 K(開高低收量)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2016-01 ~ 2026-09,可貼標的股票日 129,067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2020-01 ~ 2023-12:48,585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　其中候選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高點候選 13,994、低點候選 11,465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2025-01 ~ 2026-09:20,189 筆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防止偷看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7545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測試期開始前 5 個交易日剔除(標籤用到 t+5)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class-share" descr=""/>
          <p:cNvGraphicFramePr/>
          <p:nvPr/>
        </p:nvGraphicFramePr>
        <p:xfrm>
          <a:off x="6949440" y="1371600"/>
          <a:ext cx="4663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48006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100 天只有約 7–8 天是高點、7–8 天是低點,其餘 85 天都不是。所以全猜「非極值」acc 就有 85%。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方法流程:規則挑候選,AE + OC-SVM 篩候選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dot-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 日收盤後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取 t-5 ~ t 六根 K 線(開高低收量,29 個數字)</a:t>
            </a:r>
            <a:endParaRPr lang="en-US" sz="1300" dirty="0"/>
          </a:p>
        </p:txBody>
      </p:sp>
      <p:sp>
        <p:nvSpPr>
          <p:cNvPr id="8" name="step-arrow-1"/>
          <p:cNvSpPr/>
          <p:nvPr/>
        </p:nvSpPr>
        <p:spPr>
          <a:xfrm>
            <a:off x="313639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step-2"/>
          <p:cNvSpPr/>
          <p:nvPr/>
        </p:nvSpPr>
        <p:spPr>
          <a:xfrm>
            <a:off x="338328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dot-2"/>
          <p:cNvSpPr/>
          <p:nvPr/>
        </p:nvSpPr>
        <p:spPr>
          <a:xfrm>
            <a:off x="361188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規則挑候選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 日收盤是近 6 天最高 → 高點候選;最低 → 低點候選;其餘直接判非極值</a:t>
            </a:r>
            <a:endParaRPr lang="en-US" sz="1300" dirty="0"/>
          </a:p>
        </p:txBody>
      </p:sp>
      <p:sp>
        <p:nvSpPr>
          <p:cNvPr id="14" name="step-arrow-2"/>
          <p:cNvSpPr/>
          <p:nvPr/>
        </p:nvSpPr>
        <p:spPr>
          <a:xfrm>
            <a:off x="597103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tep-3"/>
          <p:cNvSpPr/>
          <p:nvPr/>
        </p:nvSpPr>
        <p:spPr>
          <a:xfrm>
            <a:off x="621792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dot-3"/>
          <p:cNvSpPr/>
          <p:nvPr/>
        </p:nvSpPr>
        <p:spPr>
          <a:xfrm>
            <a:off x="644652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AE + OC-SVM 篩選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候選落在「真高(低)點」的範圍內才保留,範圍外改判非極值</a:t>
            </a:r>
            <a:endParaRPr lang="en-US" sz="1300" dirty="0"/>
          </a:p>
        </p:txBody>
      </p:sp>
      <p:sp>
        <p:nvSpPr>
          <p:cNvPr id="20" name="step-arrow-3"/>
          <p:cNvSpPr/>
          <p:nvPr/>
        </p:nvSpPr>
        <p:spPr>
          <a:xfrm>
            <a:off x="8805672" y="2880360"/>
            <a:ext cx="219456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step-4"/>
          <p:cNvSpPr/>
          <p:nvPr/>
        </p:nvSpPr>
        <p:spPr>
          <a:xfrm>
            <a:off x="9052560" y="1554480"/>
            <a:ext cx="2560320" cy="2926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dot-4"/>
          <p:cNvSpPr/>
          <p:nvPr/>
        </p:nvSpPr>
        <p:spPr>
          <a:xfrm>
            <a:off x="9281160" y="178308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2468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輸出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每天一個判斷:高點 / 非極值 / 低點</a:t>
            </a:r>
            <a:endParaRPr lang="en-US" sz="1300" dirty="0"/>
          </a:p>
        </p:txBody>
      </p:sp>
      <p:sp>
        <p:nvSpPr>
          <p:cNvPr id="26" name="why-rule"/>
          <p:cNvSpPr/>
          <p:nvPr/>
        </p:nvSpPr>
        <p:spPr>
          <a:xfrm>
            <a:off x="548640" y="475488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1947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為什麼規則不會漏: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 日如果是 11 天最高,一定也是近 6 天(t-5 ~ t)最高,而這在 t 日收盤就知道。所以真高低點全部都在候選裡,模型的工作只剩「從候選裡刪掉之後 5 天被超越的假候選」。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AE + OC-SVM:學「真高低點」長什麼樣</a:t>
            </a:r>
            <a:endParaRPr lang="en-US" sz="3200" dirty="0"/>
          </a:p>
        </p:txBody>
      </p:sp>
      <p:sp>
        <p:nvSpPr>
          <p:cNvPr id="3" name="ae-box-0"/>
          <p:cNvSpPr/>
          <p:nvPr/>
        </p:nvSpPr>
        <p:spPr>
          <a:xfrm>
            <a:off x="54864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價 ÷ t 日收盤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量 ÷ 10 日均量</a:t>
            </a:r>
            <a:endParaRPr lang="en-US" sz="1300" dirty="0"/>
          </a:p>
        </p:txBody>
      </p:sp>
      <p:sp>
        <p:nvSpPr>
          <p:cNvPr id="6" name="ae-arrow-0"/>
          <p:cNvSpPr/>
          <p:nvPr/>
        </p:nvSpPr>
        <p:spPr>
          <a:xfrm>
            <a:off x="249631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ae-box-1"/>
          <p:cNvSpPr/>
          <p:nvPr/>
        </p:nvSpPr>
        <p:spPr>
          <a:xfrm>
            <a:off x="274320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AE 編碼器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→ 16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一層,不先升維</a:t>
            </a:r>
            <a:endParaRPr lang="en-US" sz="1300" dirty="0"/>
          </a:p>
        </p:txBody>
      </p:sp>
      <p:sp>
        <p:nvSpPr>
          <p:cNvPr id="10" name="ae-arrow-1"/>
          <p:cNvSpPr/>
          <p:nvPr/>
        </p:nvSpPr>
        <p:spPr>
          <a:xfrm>
            <a:off x="469087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ae-box-2"/>
          <p:cNvSpPr/>
          <p:nvPr/>
        </p:nvSpPr>
        <p:spPr>
          <a:xfrm>
            <a:off x="493776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潛在向量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16 維</a:t>
            </a:r>
            <a:endParaRPr lang="en-US" sz="1300" dirty="0"/>
          </a:p>
        </p:txBody>
      </p:sp>
      <p:sp>
        <p:nvSpPr>
          <p:cNvPr id="14" name="ae-arrow-2"/>
          <p:cNvSpPr/>
          <p:nvPr/>
        </p:nvSpPr>
        <p:spPr>
          <a:xfrm>
            <a:off x="688543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e-box-3"/>
          <p:cNvSpPr/>
          <p:nvPr/>
        </p:nvSpPr>
        <p:spPr>
          <a:xfrm>
            <a:off x="713232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OC-SVM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rbf · nu 0.1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圈出真候選的範圍</a:t>
            </a:r>
            <a:endParaRPr lang="en-US" sz="1300" dirty="0"/>
          </a:p>
        </p:txBody>
      </p:sp>
      <p:sp>
        <p:nvSpPr>
          <p:cNvPr id="18" name="ae-arrow-3"/>
          <p:cNvSpPr/>
          <p:nvPr/>
        </p:nvSpPr>
        <p:spPr>
          <a:xfrm>
            <a:off x="9079992" y="2377440"/>
            <a:ext cx="22860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ae-box-4"/>
          <p:cNvSpPr/>
          <p:nvPr/>
        </p:nvSpPr>
        <p:spPr>
          <a:xfrm>
            <a:off x="9326880" y="164592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0" y="17830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判斷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22402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範圍內 → 保留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範圍外 → 非極值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11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AE 解碼器 16 → 29,把輸入重建回來(MSE,訓練 60 輪);只拿編碼後的 16 維給 OC-SVM。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訓練樣本:訓練期(2020–2023)的規則候選點;高點、低點各訓練一組 AE + OC-SVM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樣本權重:距離 3 以內的相似候選中,同樣是真高(低)點的比例(沿用原系統的「重要性」概念)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編碼器只有一層 29 → 16(973 個參數);原系統 29 → 58 → 8 → 4 有 4,637 個,兩者結果相同;OC-SVM 的 rbf、nu 0.1 沿用原系統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測試結果:真高低點幾乎都在模型的判斷裡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 \ 判斷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真低點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1,222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79.8%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真非極值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2,646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11,414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87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3,127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18.2%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真高點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432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29.4%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1,038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70.6%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5CA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規則 + AE + OC-SVM(主軸,種子 42);格內為天數與該列(實際類別)的比例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63040"/>
          <a:ext cx="4663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macro-F1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869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非極值判對率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全猜非極值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85.1%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規則基準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62.4%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53.5%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100.0%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 + AE + OC-SVM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67.7%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53.3%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320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93.9%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361188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真高點 1,470 個:判對 1,038 個(70.6%),沒有一個被判成低點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真低點 1,532 個:判對 1,222 個(79.8%),沒有一個被判成高點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判非極值的 12,156 天中,11,414 天真的不是高低點(93.9%)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局部準確度:挑出的候選比亂猜準 3.4–4.2 倍</a:t>
            </a:r>
            <a:endParaRPr lang="en-US" sz="3200" dirty="0"/>
          </a:p>
        </p:txBody>
      </p:sp>
      <p:graphicFrame>
        <p:nvGraphicFramePr>
          <p:cNvPr id="3" name="precision-chart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oc-0"/>
          <p:cNvSpPr/>
          <p:nvPr/>
        </p:nvSpPr>
        <p:spPr>
          <a:xfrm>
            <a:off x="7498080" y="146304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26680" y="16002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100% / 99.9%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2128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規則找到的真高點 / 真低點</a:t>
            </a:r>
            <a:endParaRPr lang="en-US" sz="1300" dirty="0"/>
          </a:p>
        </p:txBody>
      </p:sp>
      <p:sp>
        <p:nvSpPr>
          <p:cNvPr id="7" name="loc-1"/>
          <p:cNvSpPr/>
          <p:nvPr/>
        </p:nvSpPr>
        <p:spPr>
          <a:xfrm>
            <a:off x="7498080" y="292608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30632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70.6% / 79.8%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67588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模型判對的真高點 / 真低點</a:t>
            </a:r>
            <a:endParaRPr lang="en-US" sz="1300" dirty="0"/>
          </a:p>
        </p:txBody>
      </p:sp>
      <p:sp>
        <p:nvSpPr>
          <p:cNvPr id="10" name="loc-2"/>
          <p:cNvSpPr/>
          <p:nvPr/>
        </p:nvSpPr>
        <p:spPr>
          <a:xfrm>
            <a:off x="7498080" y="4389120"/>
            <a:ext cx="4114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26680" y="452628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93.9%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513892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模型判非極值時的正確率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548640" y="320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找到的結果長什麼樣</a:t>
            </a:r>
            <a:endParaRPr lang="en-US" sz="3200" dirty="0"/>
          </a:p>
        </p:txBody>
      </p:sp>
      <p:pic>
        <p:nvPicPr>
          <p:cNvPr id="3" name="examples" descr="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9052560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12680" y="1463040"/>
            <a:ext cx="1691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怎麼看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淺色底 = t 日看得到的 6 天;框起來的是 t;虛線是 t 日收盤。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怎麼挑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每類取「之後 5 天報酬」最接近該類中位數的窗口,是典型例子,不是最好看的。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互動版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網頁可逐檔、逐日點開每個 11 日窗口。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69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/>
          <p:cNvSpPr/>
          <p:nvPr>
            <p:ph idx="111" type="title" hasCustomPrompt="1"/>
          </p:nvPr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總結:成功找到 11 日窗口的局部高低點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100%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真高低點都進了候選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1,470 / 1,470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1,531 / 1,532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 次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高點與低點互相判錯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真高點沒被判成低點,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真低點沒被判成高點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93.9%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判「非極值」的正確率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12,156 天裡 11,414 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真的不是高低點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23960" y="35661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3.4–4.2×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823960" y="44805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命中率是隨機挑的倍數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823960" y="493776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高點 7.3% → 24.9%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低點 7.6% → 31.6%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測試期 2025-01 ~ 2026-09 · TW50 · 20,189 個股票日;模型判對 70.6% 的真高點、79.8% 的真低點</a:t>
            </a:r>
            <a:endParaRPr lang="en-US" sz="1300" dirty="0"/>
          </a:p>
        </p:txBody>
      </p:sp>
      <p:sp>
        <p:nvSpPr>
          <p:cNvPr id="17" name="Text 11"/>
          <p:cNvSpPr/>
          <p:nvPr>
            <p:ph idx="112" type="body" hasCustomPrompt="1"/>
          </p:nvPr>
        </p:nvSpPr>
        <p:spPr>
          <a:xfrm>
            <a:off x="731520" y="342900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W50 Turning Points">
  <a:themeElements>
    <a:clrScheme name="TW50 Turning Points">
      <a:dk1>
        <a:srgbClr val="13202A"/>
      </a:dk1>
      <a:lt1>
        <a:srgbClr val="FFFFFF"/>
      </a:lt1>
      <a:dk2>
        <a:srgbClr val="47545F"/>
      </a:dk2>
      <a:lt2>
        <a:srgbClr val="EEF2F5"/>
      </a:lt2>
      <a:accent1>
        <a:srgbClr val="EB6834"/>
      </a:accent1>
      <a:accent2>
        <a:srgbClr val="2A78D6"/>
      </a:accent2>
      <a:accent3>
        <a:srgbClr val="0CA30C"/>
      </a:accent3>
      <a:accent4>
        <a:srgbClr val="D03B3B"/>
      </a:accent4>
      <a:accent5>
        <a:srgbClr val="7A8691"/>
      </a:accent5>
      <a:accent6>
        <a:srgbClr val="C9D2D9"/>
      </a:accent6>
      <a:hlink>
        <a:srgbClr val="2A78D6"/>
      </a:hlink>
      <a:folHlink>
        <a:srgbClr val="6250D6"/>
      </a:folHlink>
    </a:clrScheme>
    <a:fontScheme name="TW50 Turning Points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TW50 局部高低點偵測</dc:title>
  <dc:subject>PptxGenJS Presentation</dc:subject>
  <dc:creator>fcukproject</dc:creator>
  <cp:lastModifiedBy>fcukproject</cp:lastModifiedBy>
  <cp:revision>1</cp:revision>
  <dcterms:created xsi:type="dcterms:W3CDTF">2026-10-19T18:25:26Z</dcterms:created>
  <dcterms:modified xsi:type="dcterms:W3CDTF">2026-10-19T18:25:26Z</dcterms:modified>
</cp:coreProperties>
</file>