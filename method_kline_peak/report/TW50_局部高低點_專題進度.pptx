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問題與資料" id="{f316fb7e-b031-3030-5dfe-177fb5289170}">
          <p14:sldIdLst>
            <p14:sldId id="256"/>
            <p14:sldId id="257"/>
          </p14:sldIdLst>
        </p14:section>
        <p14:section name="方法與計分" id="{474745fa-0119-6ea9-cc97-0ad7bcb72f4d}">
          <p14:sldIdLst>
            <p14:sldId id="258"/>
            <p14:sldId id="259"/>
          </p14:sldIdLst>
        </p14:section>
        <p14:section name="結果" id="{42e84772-2358-baeb-2277-eebdfd2202ba}">
          <p14:sldIdLst>
            <p14:sldId id="260"/>
            <p14:sldId id="261"/>
            <p14:sldId id="262"/>
          </p14:sldIdLst>
        </p14:section>
        <p14:section name="總結" id="{95480b3f-55f0-34cc-6780-285bf4f09da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三類標籤比例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訓練 2020–2023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7.5</c:v>
                </c:pt>
                <c:pt idx="1">
                  <c:v>84.6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測試 2025–2026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7.6</c:v>
                </c:pt>
                <c:pt idx="1">
                  <c:v>85.1</c:v>
                </c:pt>
                <c:pt idx="2">
                  <c:v>7.3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命中率:判成高(低)點的日子中真的是高(低)點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隨機挑一天</c:v>
                </c:pt>
              </c:strCache>
            </c:strRef>
          </c:tx>
          <c:spPr>
            <a:solidFill>
              <a:srgbClr val="C9D2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7.3</c:v>
                </c:pt>
                <c:pt idx="1">
                  <c:v>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規則基準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25.4</c:v>
                </c:pt>
                <c:pt idx="1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規則 + AE + OC-SVM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24.9</c:v>
                </c:pt>
                <c:pt idx="1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每個樣本是連續 11 個交易日,中間的第 6 天叫 t。t 日收盤如果是這 11 天最高就標高點、最低就標低點,其他都是非極值。左邊淺色的部分是 t 日收盤當下看得到的;右邊未來 5 天只用來貼標籤,模型看不到。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資料是 TW50 的 50 檔股票,2016 到 2026 年 9 月的還原日 K,總共 128,867 個股票日。訓練用 2020 到 2023 年 48,585 筆,測試用 2025 年到 2026 年 9 月 20,189 筆;2016 到 2019 年和 2024 年沒有用到,其中 2024 年刻意空下來,讓訓練和測試隔開。四段加起來剛好是 128,867。高點和低點各只佔 7 到 8%,這個不平衡很重要,後面算 acc 時會再提到。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這頁說明我們丟進模型的是什麼。一個樣本是 11 個交易日,第 6 天是 t。模型只看前 6 天,也就是 t-5 到 t,這些在 t 日收盤時都已經知道;後 5 天只用來貼標籤,模型看不到。每天取 5 個特徵:開、高、低、收都除以 t 日收盤,量除以 10 日均量。t 日收盤除以自己永遠是 1,所以拿掉,總共 29 個數字。表上是台積電 2026-02-25 的實際數字:前 5 天的價格都在 t 日收盤下方,代表一路往上收到 t 日。訓練時 50 檔股票放在一起,不是每檔一個模型:候選日裡真的是高點的 3,805 天訓練高點模型,真的是低點的 3,656 天訓練低點模型,總共只有 2 組。模型不知道樣本是哪一檔股票,因為價格都除以 t 日收盤、量都除以 10 日均量,不同股票可以放在一起比。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模型沿用我們原本系統的 AE 加 OC-SVM。AE 的輸入是 t-5 到 t 六根 K 線的 29 個數字:每天的開高低收都除以 t 日收盤(t 日收盤自己固定是 1,所以拿掉),每天的量除以 10 日均量。AE 只用一層、不先升維,直接把這 29 個數字壓成 16 維,OC-SVM 在這 16 維空間裡圈出真高點候選的範圍。測試時,候選點落在範圍內就保留,否則改判非極值。高點和低點各訓練一組。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這是測試期的混淆矩陣。看第一列和最後一列:真低點有 79.8% 被判成低點,真高點有 70.6% 被判成高點,而且高點和低點從來不會互相判錯。右邊的表比較三種做法,模型的 acc 是 67.7%,判非極值時 93.9%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這頁是我們說的局部準確度。左圖是命中率:隨機挑一天是高點的機率只有 7.3%,被我們挑出來的候選是 25 到 32%,大約是 3.4 到 4.2 倍。右邊三個數字:真高低點全部進了候選,模型判對 71 到 80%,判非極值時 93.9%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四種情況的典型例子:左上判對的高點,右上判對的低點,左下是規則挑出來但被模型正確刪掉的假候選,右下是誤報,判了高點但之後又創新高。每一類都是取報酬最接近中位數的窗口,不是挑最好看的。互動網頁(連結:https://claude.ai/artifact/4YudK9qBr4fnsV4NQatjEe,需先分享權限)可以看全部 50 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總結。我們把題目定成找 11 天窗口裡的局部高低點,在 TW50 的測試期:真高低點全部進了候選;模型判出的高點和低點從來不會互相搞錯;模型說「這天不是高低點」時 93.9% 是對的;挑出來的候選是真高低點的機率是隨便挑一天的 3.4 到 4.2 倍。模型最後判對了 71% 的真高點和 80% 的真低點。謝謝。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52704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79222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2057400" y="1417320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232257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258775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285292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311810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14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1028242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041501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054760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068019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10812780" y="566928"/>
            <a:ext cx="100584" cy="1005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094536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1107795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054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1134313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7572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TW50 局部高低點偵測 · 專題進度 2026-10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標籤怎麼貼:第 6 天是不是 11 天的最高或最低</a:t>
            </a:r>
            <a:endParaRPr lang="en-US" sz="3200" dirty="0"/>
          </a:p>
        </p:txBody>
      </p:sp>
      <p:pic>
        <p:nvPicPr>
          <p:cNvPr id="3" name="window-example" descr="window_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3666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66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實例:台積電 2026-02-25,t 日收盤 2003 是前後各 5 天裡最高 → 高點</a:t>
            </a:r>
            <a:endParaRPr lang="en-US" sz="1200" dirty="0"/>
          </a:p>
        </p:txBody>
      </p:sp>
      <p:sp>
        <p:nvSpPr>
          <p:cNvPr id="5" name="rules"/>
          <p:cNvSpPr/>
          <p:nvPr/>
        </p:nvSpPr>
        <p:spPr>
          <a:xfrm>
            <a:off x="7680960" y="1371600"/>
            <a:ext cx="3931920" cy="42519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3474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窗口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t-5 ~ t+5,共 11 個交易日,t 是第 6 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高點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天最高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低點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天最低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非極值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其餘;與別天並列最高(低)也算高(低)點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判斷時點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日收盤後,只看得到 t-5 ~ 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資料量:TW50 · 2016 ~ 2026 · 12.9 萬個股票日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TW50 成分股 50 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價格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yfinance 還原權息日 K(開高低收量)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2016-01 ~ 2026-09:128,867 個股票日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2016–2019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47,995 筆:沒用到(訓練從 2020 開始)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2020-01 ~ 2023-12:48,585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　其中候選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高點 13,994(真 3,805)、低點 11,465(真 3,656)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2024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12,098 筆:沒用到(訓練與測試之間空一年)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2025-01 ~ 2026-09:20,189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class-share" descr=""/>
          <p:cNvGraphicFramePr/>
          <p:nvPr/>
        </p:nvGraphicFramePr>
        <p:xfrm>
          <a:off x="6949440" y="1371600"/>
          <a:ext cx="4663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4800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100 天只有約 7–8 天是高點、7–8 天是低點,其餘 85 天都不是。所以全猜「非極值」acc 就有 85%。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訓練輸入:11 天中的前 6 天,每天 5 個特徵</a:t>
            </a:r>
            <a:endParaRPr lang="en-US" sz="3200" dirty="0"/>
          </a:p>
        </p:txBody>
      </p:sp>
      <p:sp>
        <p:nvSpPr>
          <p:cNvPr id="3" name="day-1"/>
          <p:cNvSpPr/>
          <p:nvPr/>
        </p:nvSpPr>
        <p:spPr>
          <a:xfrm>
            <a:off x="54864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1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t-5</a:t>
            </a:r>
            <a:endParaRPr lang="en-US" sz="1500" dirty="0"/>
          </a:p>
        </p:txBody>
      </p:sp>
      <p:sp>
        <p:nvSpPr>
          <p:cNvPr id="5" name="day-2"/>
          <p:cNvSpPr/>
          <p:nvPr/>
        </p:nvSpPr>
        <p:spPr>
          <a:xfrm>
            <a:off x="1563624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63624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2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t-4</a:t>
            </a:r>
            <a:endParaRPr lang="en-US" sz="1500" dirty="0"/>
          </a:p>
        </p:txBody>
      </p:sp>
      <p:sp>
        <p:nvSpPr>
          <p:cNvPr id="7" name="day-3"/>
          <p:cNvSpPr/>
          <p:nvPr/>
        </p:nvSpPr>
        <p:spPr>
          <a:xfrm>
            <a:off x="2578608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8608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3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t-3</a:t>
            </a:r>
            <a:endParaRPr lang="en-US" sz="1500" dirty="0"/>
          </a:p>
        </p:txBody>
      </p:sp>
      <p:sp>
        <p:nvSpPr>
          <p:cNvPr id="9" name="day-4"/>
          <p:cNvSpPr/>
          <p:nvPr/>
        </p:nvSpPr>
        <p:spPr>
          <a:xfrm>
            <a:off x="3593592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4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t-2</a:t>
            </a:r>
            <a:endParaRPr lang="en-US" sz="1500" dirty="0"/>
          </a:p>
        </p:txBody>
      </p:sp>
      <p:sp>
        <p:nvSpPr>
          <p:cNvPr id="11" name="day-5"/>
          <p:cNvSpPr/>
          <p:nvPr/>
        </p:nvSpPr>
        <p:spPr>
          <a:xfrm>
            <a:off x="4608576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08576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5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t-1</a:t>
            </a:r>
            <a:endParaRPr lang="en-US" sz="1500" dirty="0"/>
          </a:p>
        </p:txBody>
      </p:sp>
      <p:sp>
        <p:nvSpPr>
          <p:cNvPr id="13" name="day-6"/>
          <p:cNvSpPr/>
          <p:nvPr/>
        </p:nvSpPr>
        <p:spPr>
          <a:xfrm>
            <a:off x="562356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第 6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</a:t>
            </a:r>
            <a:endParaRPr lang="en-US" sz="1500" dirty="0"/>
          </a:p>
        </p:txBody>
      </p:sp>
      <p:sp>
        <p:nvSpPr>
          <p:cNvPr id="15" name="day-7"/>
          <p:cNvSpPr/>
          <p:nvPr/>
        </p:nvSpPr>
        <p:spPr>
          <a:xfrm>
            <a:off x="6638544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38544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7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t+1</a:t>
            </a:r>
            <a:endParaRPr lang="en-US" sz="1500" dirty="0"/>
          </a:p>
        </p:txBody>
      </p:sp>
      <p:sp>
        <p:nvSpPr>
          <p:cNvPr id="17" name="day-8"/>
          <p:cNvSpPr/>
          <p:nvPr/>
        </p:nvSpPr>
        <p:spPr>
          <a:xfrm>
            <a:off x="7653528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53528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8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t+2</a:t>
            </a:r>
            <a:endParaRPr lang="en-US" sz="1500" dirty="0"/>
          </a:p>
        </p:txBody>
      </p:sp>
      <p:sp>
        <p:nvSpPr>
          <p:cNvPr id="19" name="day-9"/>
          <p:cNvSpPr/>
          <p:nvPr/>
        </p:nvSpPr>
        <p:spPr>
          <a:xfrm>
            <a:off x="8668512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68512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9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t+3</a:t>
            </a:r>
            <a:endParaRPr lang="en-US" sz="1500" dirty="0"/>
          </a:p>
        </p:txBody>
      </p:sp>
      <p:sp>
        <p:nvSpPr>
          <p:cNvPr id="21" name="day-10"/>
          <p:cNvSpPr/>
          <p:nvPr/>
        </p:nvSpPr>
        <p:spPr>
          <a:xfrm>
            <a:off x="9683496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83496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10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t+4</a:t>
            </a:r>
            <a:endParaRPr lang="en-US" sz="1500" dirty="0"/>
          </a:p>
        </p:txBody>
      </p:sp>
      <p:sp>
        <p:nvSpPr>
          <p:cNvPr id="23" name="day-11"/>
          <p:cNvSpPr/>
          <p:nvPr/>
        </p:nvSpPr>
        <p:spPr>
          <a:xfrm>
            <a:off x="10698480" y="1325880"/>
            <a:ext cx="9144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98480" y="13258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 11 天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t+5</a:t>
            </a:r>
            <a:endParaRPr lang="en-US" sz="1500" dirty="0"/>
          </a:p>
        </p:txBody>
      </p:sp>
      <p:sp>
        <p:nvSpPr>
          <p:cNvPr id="25" name="bracket-used"/>
          <p:cNvSpPr/>
          <p:nvPr/>
        </p:nvSpPr>
        <p:spPr>
          <a:xfrm>
            <a:off x="548640" y="2194560"/>
            <a:ext cx="5989320" cy="0"/>
          </a:xfrm>
          <a:prstGeom prst="line">
            <a:avLst/>
          </a:prstGeom>
          <a:noFill/>
          <a:ln w="19050">
            <a:solidFill>
              <a:srgbClr val="13202A"/>
            </a:solidFill>
            <a:prstDash val="solid"/>
          </a:ln>
        </p:spPr>
      </p:sp>
      <p:sp>
        <p:nvSpPr>
          <p:cNvPr id="26" name="bracket-label"/>
          <p:cNvSpPr/>
          <p:nvPr/>
        </p:nvSpPr>
        <p:spPr>
          <a:xfrm>
            <a:off x="6638544" y="2194560"/>
            <a:ext cx="4974336" cy="0"/>
          </a:xfrm>
          <a:prstGeom prst="line">
            <a:avLst/>
          </a:prstGeom>
          <a:noFill/>
          <a:ln w="19050">
            <a:solidFill>
              <a:srgbClr val="C9D2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2267712"/>
            <a:ext cx="5989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丟進模型:t 日收盤時都已經知道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638544" y="2267712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不丟進模型:只用來貼標籤(看第 6 天是不是 11 天最高 / 最低)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88920"/>
          <a:ext cx="7406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特徵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算法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t-1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開盤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−9.2%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−8.4%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−6.7%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最高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−8.9%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−6.7%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−4.0%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−2.0%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+0.5%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最低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−9.9%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−8.7%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−6.9%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−1.0%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收盤 ÷ t 日收盤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−9.9%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−6.7%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−5.7%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−2.5%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拿掉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成交量 ÷ 10 日均量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0.95×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1.09×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1.06×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1.82×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1.07×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1.06×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E0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48640" y="50292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例:台積電 2026-02-25(第 1 頁的高點)。價格以 % 顯示,模型實際用 ln 值;量的 10 日均量算到 t 日為止。</a:t>
            </a:r>
            <a:endParaRPr lang="en-US" sz="1100" dirty="0"/>
          </a:p>
        </p:txBody>
      </p:sp>
      <p:sp>
        <p:nvSpPr>
          <p:cNvPr id="31" name="count-29"/>
          <p:cNvSpPr/>
          <p:nvPr/>
        </p:nvSpPr>
        <p:spPr>
          <a:xfrm>
            <a:off x="8229600" y="2788920"/>
            <a:ext cx="338328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58200" y="2926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6 天 × 5 − 1 = 29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8458200" y="3566160"/>
            <a:ext cx="3017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t 日收盤 ÷ 自己永遠是 1,沒有資訊,拿掉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價格都除以 t 日收盤:只看形狀,不看股價高低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量除以 10 日均量:看這幾天是平常的幾倍</a:t>
            </a:r>
            <a:endParaRPr lang="en-US" sz="1500" dirty="0"/>
          </a:p>
        </p:txBody>
      </p:sp>
      <p:sp>
        <p:nvSpPr>
          <p:cNvPr id="34" name="train-samples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訓練樣本: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50 檔放在一起,不是每檔一個模型。2020–2023 的候選日裡,真高點 3,805 天訓練一組 AE + OC-SVM、真低點 3,656 天訓練另一組,共 2 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AE + OC-SVM:學「真高低點」長什麼樣</a:t>
            </a:r>
            <a:endParaRPr lang="en-US" sz="3200" dirty="0"/>
          </a:p>
        </p:txBody>
      </p:sp>
      <p:sp>
        <p:nvSpPr>
          <p:cNvPr id="3" name="ae-box-0"/>
          <p:cNvSpPr/>
          <p:nvPr/>
        </p:nvSpPr>
        <p:spPr>
          <a:xfrm>
            <a:off x="54864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輸入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價 ÷ t 日收盤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量 ÷ 10 日均量</a:t>
            </a:r>
            <a:endParaRPr lang="en-US" sz="1300" dirty="0"/>
          </a:p>
        </p:txBody>
      </p:sp>
      <p:sp>
        <p:nvSpPr>
          <p:cNvPr id="6" name="ae-arrow-0"/>
          <p:cNvSpPr/>
          <p:nvPr/>
        </p:nvSpPr>
        <p:spPr>
          <a:xfrm>
            <a:off x="249631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ae-box-1"/>
          <p:cNvSpPr/>
          <p:nvPr/>
        </p:nvSpPr>
        <p:spPr>
          <a:xfrm>
            <a:off x="274320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AE 編碼器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→ 16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一層,不先升維</a:t>
            </a:r>
            <a:endParaRPr lang="en-US" sz="1300" dirty="0"/>
          </a:p>
        </p:txBody>
      </p:sp>
      <p:sp>
        <p:nvSpPr>
          <p:cNvPr id="10" name="ae-arrow-1"/>
          <p:cNvSpPr/>
          <p:nvPr/>
        </p:nvSpPr>
        <p:spPr>
          <a:xfrm>
            <a:off x="469087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ae-box-2"/>
          <p:cNvSpPr/>
          <p:nvPr/>
        </p:nvSpPr>
        <p:spPr>
          <a:xfrm>
            <a:off x="493776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潛在向量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16 維</a:t>
            </a:r>
            <a:endParaRPr lang="en-US" sz="1300" dirty="0"/>
          </a:p>
        </p:txBody>
      </p:sp>
      <p:sp>
        <p:nvSpPr>
          <p:cNvPr id="14" name="ae-arrow-2"/>
          <p:cNvSpPr/>
          <p:nvPr/>
        </p:nvSpPr>
        <p:spPr>
          <a:xfrm>
            <a:off x="688543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ae-box-3"/>
          <p:cNvSpPr/>
          <p:nvPr/>
        </p:nvSpPr>
        <p:spPr>
          <a:xfrm>
            <a:off x="713232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OC-SVM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rbf · nu 0.1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圈出真候選的範圍</a:t>
            </a:r>
            <a:endParaRPr lang="en-US" sz="1300" dirty="0"/>
          </a:p>
        </p:txBody>
      </p:sp>
      <p:sp>
        <p:nvSpPr>
          <p:cNvPr id="18" name="ae-arrow-3"/>
          <p:cNvSpPr/>
          <p:nvPr/>
        </p:nvSpPr>
        <p:spPr>
          <a:xfrm>
            <a:off x="907999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ae-box-4"/>
          <p:cNvSpPr/>
          <p:nvPr/>
        </p:nvSpPr>
        <p:spPr>
          <a:xfrm>
            <a:off x="932688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0976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判斷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範圍內 → 保留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範圍外 → 非極值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611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AE 解碼器 16 → 29,把輸入重建回來(MSE,訓練 60 輪);只拿編碼後的 16 維給 OC-SVM。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訓練樣本:50 檔合在一起,2020–2023 候選中的真高點 3,805 天、真低點 3,656 天;高點、低點各一組 AE + OC-SVM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樣本權重:距離 3 以內的相似候選中,同樣是真高(低)點的比例(沿用原系統的「重要性」概念)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編碼器只有一層 29 → 16(973 個參數);原系統 29 → 58 → 8 → 4 有 4,637 個,兩者結果相同;OC-SVM 的 rbf、nu 0.1 沿用原系統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測試結果:真高低點幾乎都在模型的判斷裡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 \ 判斷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1,222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79.8%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310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20.2%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2,646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11,414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7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3,127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18.2%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1,038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70.6%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規則 + AE + OC-SVM(主軸,種子 42);格內為天數與該列(實際類別)的比例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63040"/>
          <a:ext cx="4663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acc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macro-F1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非極值判對率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全猜非極值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規則基準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 + AE + OC-SVM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93.9%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49440" y="36118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真高點 1,470 個:判對 1,038 個(70.6%),沒有一個被判成低點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真低點 1,532 個:判對 1,222 個(79.8%),沒有一個被判成高點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判非極值的 12,156 天中,11,414 天真的不是高低點(93.9%)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局部準確度:挑出的候選比亂猜準 3.4–4.2 倍</a:t>
            </a:r>
            <a:endParaRPr lang="en-US" sz="3200" dirty="0"/>
          </a:p>
        </p:txBody>
      </p:sp>
      <p:graphicFrame>
        <p:nvGraphicFramePr>
          <p:cNvPr id="3" name="precision-chart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oc-0"/>
          <p:cNvSpPr/>
          <p:nvPr/>
        </p:nvSpPr>
        <p:spPr>
          <a:xfrm>
            <a:off x="7498080" y="146304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6002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100% / 99.9%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22128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規則找到的真高點 / 真低點</a:t>
            </a:r>
            <a:endParaRPr lang="en-US" sz="1300" dirty="0"/>
          </a:p>
        </p:txBody>
      </p:sp>
      <p:sp>
        <p:nvSpPr>
          <p:cNvPr id="7" name="loc-1"/>
          <p:cNvSpPr/>
          <p:nvPr/>
        </p:nvSpPr>
        <p:spPr>
          <a:xfrm>
            <a:off x="7498080" y="292608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3063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70.6% / 79.8%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675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模型判對的真高點 / 真低點</a:t>
            </a:r>
            <a:endParaRPr lang="en-US" sz="1300" dirty="0"/>
          </a:p>
        </p:txBody>
      </p:sp>
      <p:sp>
        <p:nvSpPr>
          <p:cNvPr id="10" name="loc-2"/>
          <p:cNvSpPr/>
          <p:nvPr/>
        </p:nvSpPr>
        <p:spPr>
          <a:xfrm>
            <a:off x="7498080" y="438912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45262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93.9%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51389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模型判非極值時的正確率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找到的結果長什麼樣</a:t>
            </a:r>
            <a:endParaRPr lang="en-US" sz="3200" dirty="0"/>
          </a:p>
        </p:txBody>
      </p:sp>
      <p:pic>
        <p:nvPicPr>
          <p:cNvPr id="3" name="examples" descr="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9052560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12680" y="1463040"/>
            <a:ext cx="1691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怎麼看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淺色底 = t 日看得到的 6 天;框起來的是 t;虛線是 t 日收盤。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怎麼挑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每類取「之後 5 天報酬」最接近該類中位數的窗口,是典型例子,不是最好看的。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互動版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網頁可逐檔、逐日點開每個 11 日窗口。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總結:成功找到 11 日窗口的局部高低點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100%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真高低點都進了候選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1,470 / 1,470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1,531 / 1,532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 次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高點與低點互相判錯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真高點沒被判成低點,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真低點沒被判成高點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93.9%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判「非極值」的正確率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12,156 天裡 11,414 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真的不是高低點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2396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3.4–4.2×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82396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命中率是隨機挑的倍數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82396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7.3% → 24.9%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7.6% → 31.6%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測試期 2025-01 ~ 2026-09 · TW50 · 20,189 個股票日;模型判對 70.6% 的真高點、79.8% 的真低點</a:t>
            </a:r>
            <a:endParaRPr lang="en-US" sz="1300" dirty="0"/>
          </a:p>
        </p:txBody>
      </p:sp>
      <p:sp>
        <p:nvSpPr>
          <p:cNvPr id="17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W50 Turning Points">
  <a:themeElements>
    <a:clrScheme name="TW50 Turning Points">
      <a:dk1>
        <a:srgbClr val="13202A"/>
      </a:dk1>
      <a:lt1>
        <a:srgbClr val="FFFFFF"/>
      </a:lt1>
      <a:dk2>
        <a:srgbClr val="47545F"/>
      </a:dk2>
      <a:lt2>
        <a:srgbClr val="EEF2F5"/>
      </a:lt2>
      <a:accent1>
        <a:srgbClr val="EB6834"/>
      </a:accent1>
      <a:accent2>
        <a:srgbClr val="2A78D6"/>
      </a:accent2>
      <a:accent3>
        <a:srgbClr val="0CA30C"/>
      </a:accent3>
      <a:accent4>
        <a:srgbClr val="D03B3B"/>
      </a:accent4>
      <a:accent5>
        <a:srgbClr val="7A8691"/>
      </a:accent5>
      <a:accent6>
        <a:srgbClr val="C9D2D9"/>
      </a:accent6>
      <a:hlink>
        <a:srgbClr val="2A78D6"/>
      </a:hlink>
      <a:folHlink>
        <a:srgbClr val="6250D6"/>
      </a:folHlink>
    </a:clrScheme>
    <a:fontScheme name="TW50 Turning Points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TW50 局部高低點偵測</dc:title>
  <dc:subject>PptxGenJS Presentation</dc:subject>
  <dc:creator>fcukproject</dc:creator>
  <cp:lastModifiedBy>fcukproject</cp:lastModifiedBy>
  <cp:revision>1</cp:revision>
  <dcterms:created xsi:type="dcterms:W3CDTF">2026-10-19T18:43:24Z</dcterms:created>
  <dcterms:modified xsi:type="dcterms:W3CDTF">2026-10-19T18:43:24Z</dcterms:modified>
</cp:coreProperties>
</file>