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問題與資料" id="{7d59136b-ff63-2dd3-26da-1c5c4b40748d}">
          <p14:sldIdLst>
            <p14:sldId id="256"/>
            <p14:sldId id="257"/>
          </p14:sldIdLst>
        </p14:section>
        <p14:section name="方法與計分" id="{baab0284-40e2-7ff2-27f2-f52f53cc93fa}">
          <p14:sldIdLst>
            <p14:sldId id="258"/>
            <p14:sldId id="259"/>
            <p14:sldId id="260"/>
          </p14:sldIdLst>
        </p14:section>
        <p14:section name="結果" id="{f2878c43-7731-8fce-4dfa-04d948c0c09e}">
          <p14:sldIdLst>
            <p14:sldId id="261"/>
            <p14:sldId id="262"/>
            <p14:sldId id="263"/>
          </p14:sldIdLst>
        </p14:section>
        <p14:section name="總結" id="{d4835151-0d92-9420-6d6e-fd1bb7f2c6c2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0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02A"/>
                </a:solidFill>
                <a:latin typeface="+mn-lt"/>
              </a:rPr>
              <a:t>三類標籤比例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訓練 2020–2023</c:v>
                </c:pt>
              </c:strCache>
            </c:strRef>
          </c:tx>
          <c:spPr>
            <a:solidFill>
              <a:srgbClr val="7A869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4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低點</c:v>
                  </c:pt>
                  <c:pt idx="1">
                    <c:v>非極值</c:v>
                  </c:pt>
                  <c:pt idx="2">
                    <c:v>高點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7.6</c:v>
                </c:pt>
                <c:pt idx="1">
                  <c:v>84.6</c:v>
                </c:pt>
                <c:pt idx="2">
                  <c:v>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測試 2024</c:v>
                </c:pt>
              </c:strCache>
            </c:strRef>
          </c:tx>
          <c:spPr>
            <a:solidFill>
              <a:srgbClr val="13202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4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低點</c:v>
                  </c:pt>
                  <c:pt idx="1">
                    <c:v>非極值</c:v>
                  </c:pt>
                  <c:pt idx="2">
                    <c:v>高點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7.5</c:v>
                </c:pt>
                <c:pt idx="1">
                  <c:v>85</c:v>
                </c:pt>
                <c:pt idx="2">
                  <c:v>7.4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4754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754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45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0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02A"/>
                </a:solidFill>
                <a:latin typeface="+mn-lt"/>
              </a:rPr>
              <a:t>命中率:判成高(低)點的日子中真的是高(低)點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隨機挑一天</c:v>
                </c:pt>
              </c:strCache>
            </c:strRef>
          </c:tx>
          <c:spPr>
            <a:solidFill>
              <a:srgbClr val="C9D2D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4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高點</c:v>
                  </c:pt>
                  <c:pt idx="1">
                    <c:v>低點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7.4</c:v>
                </c:pt>
                <c:pt idx="1">
                  <c:v>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規則基準</c:v>
                </c:pt>
              </c:strCache>
            </c:strRef>
          </c:tx>
          <c:spPr>
            <a:solidFill>
              <a:srgbClr val="7A869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4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高點</c:v>
                  </c:pt>
                  <c:pt idx="1">
                    <c:v>低點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27.8</c:v>
                </c:pt>
                <c:pt idx="1">
                  <c:v>30.3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規則 + AE + OC-SVM</c:v>
                </c:pt>
              </c:strCache>
            </c:strRef>
          </c:tx>
          <c:spPr>
            <a:solidFill>
              <a:srgbClr val="13202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4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高點</c:v>
                  </c:pt>
                  <c:pt idx="1">
                    <c:v>低點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27.7</c:v>
                </c:pt>
                <c:pt idx="1">
                  <c:v>29.8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4754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754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45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每個樣本是連續 11 個交易日,中間的第 6 天叫 t。t 日收盤如果是這 11 天最高就標高點、最低就標低點,其他都是非極值。左邊淺色的部分是 t 日收盤當下看得到的;右邊未來 5 天只用來貼標籤,模型看不到。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資料是 TW50 的 50 檔股票,2020 到 2026 年 9 月的還原日 K,總共 80,872 個股票日。訓練用 2020 到 2023 年 48,335 筆,測試用 2024 年整年 12,098 筆。2023 年最後 5 個交易日的 250 筆剔除,因為它們的標籤會用到 2024 年的價格,不剔除等於偷看測試期。2025 年以後這份報告沒有用到。加起來剛好是 80,872。高點和低點各只佔 7 到 8%,這個不平衡很重要,後面算 acc 時會再提到。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這頁說明我們丟進模型的是什麼。一個樣本是 11 個交易日,第 6 天是 t。模型只看前 6 天,也就是 t-5 到 t,這些在 t 日收盤時都已經知道;後 5 天只用來貼標籤,模型看不到。每天取 5 個特徵:開、高、低、收都除以 t 日收盤,量除以 10 日均量。t 日收盤除以自己永遠是 1,所以拿掉,總共 29 個數字。表上是廣達 2024-11-08 的實際數字:前 5 天的收盤從 -7.0% 一路升到 -0.8%,代表連漲 5 天收到 t 日;量也越來越大。訓練時 50 檔股票放在一起,不是每檔一個模型:候選日裡真的是高點的 3,769 天訓練高點模型,真的是低點的 3,651 天訓練低點模型,總共只有 2 組。模型不知道樣本是哪一檔股票,因為價格都除以 t 日收盤、量都除以 10 日均量,不同股票可以放在一起比。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模型沿用我們原本系統的 AE 加 OC-SVM。AE 的輸入是 t-5 到 t 六根 K 線的 29 個數字:每天的開高低收都除以 t 日收盤(t 日收盤自己固定是 1,所以拿掉),每天的量除以 10 日均量。AE 只用一層、不先升維,直接把這 29 個數字壓成 16 維,OC-SVM 在這 16 維空間裡圈出真高點候選的範圍。測試時,候選點落在範圍內就保留,否則改判非極值。高點和低點各訓練一組。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 OC-SVM 只能分兩類,為什麼我們能做三分類。每個 OC-SVM 只回答一件事:這個樣本落不落在它圈出的範圍裡。三分類是規則加兩個 OC-SVM 組出來的:t 日收盤如果是近 6 天最高,就是高點候選,交給只學過真高點的高點 OC-SVM,範圍內判高點,範圍外判非極值;如果是近 6 天最低,就交給低點 OC-SVM;都不是就直接判非極值,不經過模型。一天不可能同時是近 6 天最高和最低,所以每天最多只問一個模型。2024 年 12,098 天裡,高點候選 3,217 天、低點候選 3,016 天,其餘 5,865 天直接判非極值。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2024 年測試期的混淆矩陣。看第一列和最後一列:真低點有 84.4% 被判成低點,真高點有 81.6% 被判成高點,而且高點和低點從來不會互相判錯。右邊的表比較三種做法,模型的 acc 是 66.7%,判非極值時 95.5% 正確。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這頁是我們說的局部準確度。左圖是命中率:隨機挑一天是高點的機率只有 7.4%,被我們挑出來的候選是 28 到 30%,大約是 3.7 到 3.9 倍。右邊三個數字:真高低點 1,809 個只有 1 個沒進候選,模型判對 82 到 84%,判非極值時 95.5% 正確。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測試期四種情況的典型例子:左上判對的高點,右上判對的低點,左下是規則挑出來但被模型正確刪掉的假候選,右下是誤報,判了高點但之後又創新高。每一類都是取報酬最接近中位數的窗口,不是挑最好看的。互動網頁(連結:https://claude.ai/artifact/4YudK9qBr4fnsV4NQatjEe,需先分享權限)可以看全部 50 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總結。我們把題目定成找 11 天窗口裡的局部高低點,在 TW50 的 2024 年測試期:真高低點 1,809 個只有 1 個沒進候選;模型判出的高點和低點從來不會互相搞錯;模型說「這天不是高低點」時 95.5% 是對的;挑出來的候選是真高低點的機率是隨便挑一天的 3.7 到 3.9 倍。模型最後判對了 82% 的真高點和 84% 的真低點。謝謝。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201168" cy="20116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" y="1417320"/>
            <a:ext cx="201168" cy="20116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1417320"/>
            <a:ext cx="201168" cy="20116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" name="Shape 3"/>
          <p:cNvSpPr/>
          <p:nvPr/>
        </p:nvSpPr>
        <p:spPr>
          <a:xfrm>
            <a:off x="1527048" y="1417320"/>
            <a:ext cx="201168" cy="20116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" name="Shape 4"/>
          <p:cNvSpPr/>
          <p:nvPr/>
        </p:nvSpPr>
        <p:spPr>
          <a:xfrm>
            <a:off x="1792224" y="1417320"/>
            <a:ext cx="201168" cy="20116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1417320"/>
            <a:ext cx="201168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2322576" y="1417320"/>
            <a:ext cx="201168" cy="20116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Shape 7"/>
          <p:cNvSpPr/>
          <p:nvPr/>
        </p:nvSpPr>
        <p:spPr>
          <a:xfrm>
            <a:off x="2587752" y="1417320"/>
            <a:ext cx="201168" cy="20116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" name="Shape 8"/>
          <p:cNvSpPr/>
          <p:nvPr/>
        </p:nvSpPr>
        <p:spPr>
          <a:xfrm>
            <a:off x="2852928" y="1417320"/>
            <a:ext cx="201168" cy="20116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1" name="Shape 9"/>
          <p:cNvSpPr/>
          <p:nvPr/>
        </p:nvSpPr>
        <p:spPr>
          <a:xfrm>
            <a:off x="3118104" y="1417320"/>
            <a:ext cx="201168" cy="20116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417320"/>
            <a:ext cx="201168" cy="20116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" name="Text 11"/>
          <p:cNvSpPr/>
          <p:nvPr>
            <p:ph idx="111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731520" y="3429000"/>
            <a:ext cx="106984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566928"/>
            <a:ext cx="100584" cy="10058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Shape 1"/>
          <p:cNvSpPr/>
          <p:nvPr/>
        </p:nvSpPr>
        <p:spPr>
          <a:xfrm>
            <a:off x="10282428" y="566928"/>
            <a:ext cx="100584" cy="10058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" name="Shape 2"/>
          <p:cNvSpPr/>
          <p:nvPr/>
        </p:nvSpPr>
        <p:spPr>
          <a:xfrm>
            <a:off x="10415016" y="566928"/>
            <a:ext cx="100584" cy="10058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" name="Shape 3"/>
          <p:cNvSpPr/>
          <p:nvPr/>
        </p:nvSpPr>
        <p:spPr>
          <a:xfrm>
            <a:off x="10547604" y="566928"/>
            <a:ext cx="100584" cy="10058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6" name="Shape 4"/>
          <p:cNvSpPr/>
          <p:nvPr/>
        </p:nvSpPr>
        <p:spPr>
          <a:xfrm>
            <a:off x="10680192" y="566928"/>
            <a:ext cx="100584" cy="10058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" name="Shape 5"/>
          <p:cNvSpPr/>
          <p:nvPr/>
        </p:nvSpPr>
        <p:spPr>
          <a:xfrm>
            <a:off x="10812780" y="566928"/>
            <a:ext cx="100584" cy="1005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0945368" y="566928"/>
            <a:ext cx="100584" cy="10058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Shape 7"/>
          <p:cNvSpPr/>
          <p:nvPr/>
        </p:nvSpPr>
        <p:spPr>
          <a:xfrm>
            <a:off x="11077956" y="566928"/>
            <a:ext cx="100584" cy="10058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" name="Shape 8"/>
          <p:cNvSpPr/>
          <p:nvPr/>
        </p:nvSpPr>
        <p:spPr>
          <a:xfrm>
            <a:off x="11210544" y="566928"/>
            <a:ext cx="100584" cy="10058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1" name="Shape 9"/>
          <p:cNvSpPr/>
          <p:nvPr/>
        </p:nvSpPr>
        <p:spPr>
          <a:xfrm>
            <a:off x="11343132" y="566928"/>
            <a:ext cx="100584" cy="10058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75720" y="566928"/>
            <a:ext cx="100584" cy="10058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" name="Text 11"/>
          <p:cNvSpPr/>
          <p:nvPr>
            <p:ph idx="111" type="title" hasCustomPrompt="1"/>
          </p:nvPr>
        </p:nvSpPr>
        <p:spPr>
          <a:xfrm>
            <a:off x="548640" y="320040"/>
            <a:ext cx="94183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TW50 局部高低點偵測 · 專題進度 2026-10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/>
          <p:cNvSpPr/>
          <p:nvPr>
            <p:ph idx="111" type="title" hasCustomPrompt="1"/>
          </p:nvPr>
        </p:nvSpPr>
        <p:spPr>
          <a:xfrm>
            <a:off x="548640" y="320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標籤怎麼貼:第 6 天是不是 11 天的最高或最低</a:t>
            </a:r>
            <a:endParaRPr lang="en-US" sz="3200" dirty="0"/>
          </a:p>
        </p:txBody>
      </p:sp>
      <p:pic>
        <p:nvPicPr>
          <p:cNvPr id="3" name="window-example" descr="window_annot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3666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663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實例:廣達 2024-11-08,連漲 5 天後收在 300(十字線),之後 5 天都收在 300 以下、t+5 跌到 272 → 高點</a:t>
            </a:r>
            <a:endParaRPr lang="en-US" sz="1200" dirty="0"/>
          </a:p>
        </p:txBody>
      </p:sp>
      <p:sp>
        <p:nvSpPr>
          <p:cNvPr id="5" name="rules"/>
          <p:cNvSpPr/>
          <p:nvPr/>
        </p:nvSpPr>
        <p:spPr>
          <a:xfrm>
            <a:off x="7680960" y="1371600"/>
            <a:ext cx="3931920" cy="425196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600200"/>
            <a:ext cx="3474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窗口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t-5 ~ t+5,共 11 個交易日,t 是第 6 天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高點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 日收盤是 11 天最高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低點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 日收盤是 11 天最低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非極值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其餘;與別天並列最高(低)也算高(低)點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判斷時點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 日收盤後,只看得到 t-5 ~ 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/>
          <p:cNvSpPr/>
          <p:nvPr>
            <p:ph idx="111" type="title" hasCustomPrompt="1"/>
          </p:nvPr>
        </p:nvSpPr>
        <p:spPr>
          <a:xfrm>
            <a:off x="548640" y="320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資料量:TW50 · 2020 ~ 2026 · 8.1 萬個股票日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035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663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股票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754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TW50 成分股 50 檔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754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yfinance 還原權息日 K(開高低收量)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全部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754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2020-01 ~ 2026-09:80,872 個股票日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754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2020–2023:48,335 筆(剔除 2023 最後 5 天)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　其中候選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754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高點 13,866(真 3,769)、低點 11,458(真 3,651)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754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 整年:12,098 筆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2025–2026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20,189 筆:這份報告沒用到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lass-share" descr=""/>
          <p:cNvGraphicFramePr/>
          <p:nvPr/>
        </p:nvGraphicFramePr>
        <p:xfrm>
          <a:off x="6949440" y="1371600"/>
          <a:ext cx="4663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94944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 100 天只有約 7–8 天是高點、7–8 天是低點,其餘 85 天都不是。所以全猜「非極值」acc 就有 85%。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/>
          <p:cNvSpPr/>
          <p:nvPr>
            <p:ph idx="111" type="title" hasCustomPrompt="1"/>
          </p:nvPr>
        </p:nvSpPr>
        <p:spPr>
          <a:xfrm>
            <a:off x="548640" y="320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訓練輸入:11 天中的前 6 天,每天 5 個特徵</a:t>
            </a:r>
            <a:endParaRPr lang="en-US" sz="3200" dirty="0"/>
          </a:p>
        </p:txBody>
      </p:sp>
      <p:sp>
        <p:nvSpPr>
          <p:cNvPr id="3" name="day-1"/>
          <p:cNvSpPr/>
          <p:nvPr/>
        </p:nvSpPr>
        <p:spPr>
          <a:xfrm>
            <a:off x="548640" y="1325880"/>
            <a:ext cx="914400" cy="73152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第 1 天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t-5</a:t>
            </a:r>
            <a:endParaRPr lang="en-US" sz="1500" dirty="0"/>
          </a:p>
        </p:txBody>
      </p:sp>
      <p:sp>
        <p:nvSpPr>
          <p:cNvPr id="5" name="day-2"/>
          <p:cNvSpPr/>
          <p:nvPr/>
        </p:nvSpPr>
        <p:spPr>
          <a:xfrm>
            <a:off x="1563624" y="1325880"/>
            <a:ext cx="914400" cy="73152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63624" y="1325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第 2 天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t-4</a:t>
            </a:r>
            <a:endParaRPr lang="en-US" sz="1500" dirty="0"/>
          </a:p>
        </p:txBody>
      </p:sp>
      <p:sp>
        <p:nvSpPr>
          <p:cNvPr id="7" name="day-3"/>
          <p:cNvSpPr/>
          <p:nvPr/>
        </p:nvSpPr>
        <p:spPr>
          <a:xfrm>
            <a:off x="2578608" y="1325880"/>
            <a:ext cx="914400" cy="73152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78608" y="1325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第 3 天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t-3</a:t>
            </a:r>
            <a:endParaRPr lang="en-US" sz="1500" dirty="0"/>
          </a:p>
        </p:txBody>
      </p:sp>
      <p:sp>
        <p:nvSpPr>
          <p:cNvPr id="9" name="day-4"/>
          <p:cNvSpPr/>
          <p:nvPr/>
        </p:nvSpPr>
        <p:spPr>
          <a:xfrm>
            <a:off x="3593592" y="1325880"/>
            <a:ext cx="914400" cy="73152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3592" y="1325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第 4 天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t-2</a:t>
            </a:r>
            <a:endParaRPr lang="en-US" sz="1500" dirty="0"/>
          </a:p>
        </p:txBody>
      </p:sp>
      <p:sp>
        <p:nvSpPr>
          <p:cNvPr id="11" name="day-5"/>
          <p:cNvSpPr/>
          <p:nvPr/>
        </p:nvSpPr>
        <p:spPr>
          <a:xfrm>
            <a:off x="4608576" y="1325880"/>
            <a:ext cx="914400" cy="73152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08576" y="1325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第 5 天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t-1</a:t>
            </a:r>
            <a:endParaRPr lang="en-US" sz="1500" dirty="0"/>
          </a:p>
        </p:txBody>
      </p:sp>
      <p:sp>
        <p:nvSpPr>
          <p:cNvPr id="13" name="day-6"/>
          <p:cNvSpPr/>
          <p:nvPr/>
        </p:nvSpPr>
        <p:spPr>
          <a:xfrm>
            <a:off x="5623560" y="1325880"/>
            <a:ext cx="914400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23560" y="1325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第 6 天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</a:t>
            </a:r>
            <a:endParaRPr lang="en-US" sz="1500" dirty="0"/>
          </a:p>
        </p:txBody>
      </p:sp>
      <p:sp>
        <p:nvSpPr>
          <p:cNvPr id="15" name="day-7"/>
          <p:cNvSpPr/>
          <p:nvPr/>
        </p:nvSpPr>
        <p:spPr>
          <a:xfrm>
            <a:off x="6638544" y="1325880"/>
            <a:ext cx="91440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38544" y="1325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第 7 天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t+1</a:t>
            </a:r>
            <a:endParaRPr lang="en-US" sz="1500" dirty="0"/>
          </a:p>
        </p:txBody>
      </p:sp>
      <p:sp>
        <p:nvSpPr>
          <p:cNvPr id="17" name="day-8"/>
          <p:cNvSpPr/>
          <p:nvPr/>
        </p:nvSpPr>
        <p:spPr>
          <a:xfrm>
            <a:off x="7653528" y="1325880"/>
            <a:ext cx="91440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53528" y="1325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第 8 天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t+2</a:t>
            </a:r>
            <a:endParaRPr lang="en-US" sz="1500" dirty="0"/>
          </a:p>
        </p:txBody>
      </p:sp>
      <p:sp>
        <p:nvSpPr>
          <p:cNvPr id="19" name="day-9"/>
          <p:cNvSpPr/>
          <p:nvPr/>
        </p:nvSpPr>
        <p:spPr>
          <a:xfrm>
            <a:off x="8668512" y="1325880"/>
            <a:ext cx="91440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68512" y="1325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第 9 天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t+3</a:t>
            </a:r>
            <a:endParaRPr lang="en-US" sz="1500" dirty="0"/>
          </a:p>
        </p:txBody>
      </p:sp>
      <p:sp>
        <p:nvSpPr>
          <p:cNvPr id="21" name="day-10"/>
          <p:cNvSpPr/>
          <p:nvPr/>
        </p:nvSpPr>
        <p:spPr>
          <a:xfrm>
            <a:off x="9683496" y="1325880"/>
            <a:ext cx="91440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83496" y="1325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第 10 天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t+4</a:t>
            </a:r>
            <a:endParaRPr lang="en-US" sz="1500" dirty="0"/>
          </a:p>
        </p:txBody>
      </p:sp>
      <p:sp>
        <p:nvSpPr>
          <p:cNvPr id="23" name="day-11"/>
          <p:cNvSpPr/>
          <p:nvPr/>
        </p:nvSpPr>
        <p:spPr>
          <a:xfrm>
            <a:off x="10698480" y="1325880"/>
            <a:ext cx="91440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698480" y="1325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第 11 天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t+5</a:t>
            </a:r>
            <a:endParaRPr lang="en-US" sz="1500" dirty="0"/>
          </a:p>
        </p:txBody>
      </p:sp>
      <p:sp>
        <p:nvSpPr>
          <p:cNvPr id="25" name="bracket-used"/>
          <p:cNvSpPr/>
          <p:nvPr/>
        </p:nvSpPr>
        <p:spPr>
          <a:xfrm>
            <a:off x="548640" y="2194560"/>
            <a:ext cx="5989320" cy="0"/>
          </a:xfrm>
          <a:prstGeom prst="line">
            <a:avLst/>
          </a:prstGeom>
          <a:noFill/>
          <a:ln w="19050">
            <a:solidFill>
              <a:srgbClr val="13202A"/>
            </a:solidFill>
            <a:prstDash val="solid"/>
          </a:ln>
        </p:spPr>
      </p:sp>
      <p:sp>
        <p:nvSpPr>
          <p:cNvPr id="26" name="bracket-label"/>
          <p:cNvSpPr/>
          <p:nvPr/>
        </p:nvSpPr>
        <p:spPr>
          <a:xfrm>
            <a:off x="6638544" y="2194560"/>
            <a:ext cx="4974336" cy="0"/>
          </a:xfrm>
          <a:prstGeom prst="line">
            <a:avLst/>
          </a:prstGeom>
          <a:noFill/>
          <a:ln w="19050">
            <a:solidFill>
              <a:srgbClr val="C9D2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2267712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丟進模型:t 日收盤時都已經知道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38544" y="2267712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不丟進模型:只用來貼標籤(看第 6 天是不是 11 天最高 / 最低)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74066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特徵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算法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t-5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t-4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t-3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t-2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t-1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4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開盤 ÷ t 日收盤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−11.6%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−6.6%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−5.3%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−2.7%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−1.5%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0.0%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4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最高 ÷ t 日收盤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−6.3%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−4.1%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−2.4%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−1.1%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+0.3%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+1.5%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4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最低 ÷ t 日收盤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−11.7%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−6.7%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−5.6%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−3.0%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−2.4%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−0.5%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4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收盤 ÷ t 日收盤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−7.0%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−4.4%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−3.0%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−2.3%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−0.8%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拿掉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4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成交量 ÷ 10 日均量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0.92×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1.00×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1.08×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1.29×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1.21×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1.35×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0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48640" y="50292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例:廣達 2024-11-08(第 1 頁的高點)。價格以 % 顯示,模型實際用 ln 值;量的 10 日均量算到 t 日為止。</a:t>
            </a:r>
            <a:endParaRPr lang="en-US" sz="1100" dirty="0"/>
          </a:p>
        </p:txBody>
      </p:sp>
      <p:sp>
        <p:nvSpPr>
          <p:cNvPr id="31" name="count-29"/>
          <p:cNvSpPr/>
          <p:nvPr/>
        </p:nvSpPr>
        <p:spPr>
          <a:xfrm>
            <a:off x="8229600" y="2788920"/>
            <a:ext cx="338328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5820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 天 × 5 − 1 = 29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8458200" y="356616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 日收盤 ÷ 自己永遠是 1,沒有資訊,拿掉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價格都除以 t 日收盤:只看形狀,不看股價高低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量除以 10 日均量:看這幾天是平常的幾倍</a:t>
            </a:r>
            <a:endParaRPr lang="en-US" sz="1500" dirty="0"/>
          </a:p>
        </p:txBody>
      </p:sp>
      <p:sp>
        <p:nvSpPr>
          <p:cNvPr id="34" name="train-samples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7724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訓練樣本: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50 檔放在一起,不是每檔一個模型。2020–2023 的候選日裡,真高點 3,769 天訓練一組 AE + OC-SVM、真低點 3,651 天訓練另一組,共 2 組。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/>
          <p:cNvSpPr/>
          <p:nvPr>
            <p:ph idx="111" type="title" hasCustomPrompt="1"/>
          </p:nvPr>
        </p:nvSpPr>
        <p:spPr>
          <a:xfrm>
            <a:off x="548640" y="320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AE + OC-SVM:學「真高低點」長什麼樣</a:t>
            </a:r>
            <a:endParaRPr lang="en-US" sz="3200" dirty="0"/>
          </a:p>
        </p:txBody>
      </p:sp>
      <p:sp>
        <p:nvSpPr>
          <p:cNvPr id="3" name="ae-box-0"/>
          <p:cNvSpPr/>
          <p:nvPr/>
        </p:nvSpPr>
        <p:spPr>
          <a:xfrm>
            <a:off x="548640" y="164592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輸入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29 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價 ÷ t 日收盤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量 ÷ 10 日均量</a:t>
            </a:r>
            <a:endParaRPr lang="en-US" sz="1300" dirty="0"/>
          </a:p>
        </p:txBody>
      </p:sp>
      <p:sp>
        <p:nvSpPr>
          <p:cNvPr id="6" name="ae-arrow-0"/>
          <p:cNvSpPr/>
          <p:nvPr/>
        </p:nvSpPr>
        <p:spPr>
          <a:xfrm>
            <a:off x="2496312" y="2377440"/>
            <a:ext cx="22860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ae-box-1"/>
          <p:cNvSpPr/>
          <p:nvPr/>
        </p:nvSpPr>
        <p:spPr>
          <a:xfrm>
            <a:off x="2743200" y="164592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AE 編碼器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2402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29 → 16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一層,不先升維</a:t>
            </a:r>
            <a:endParaRPr lang="en-US" sz="1300" dirty="0"/>
          </a:p>
        </p:txBody>
      </p:sp>
      <p:sp>
        <p:nvSpPr>
          <p:cNvPr id="10" name="ae-arrow-1"/>
          <p:cNvSpPr/>
          <p:nvPr/>
        </p:nvSpPr>
        <p:spPr>
          <a:xfrm>
            <a:off x="4690872" y="2377440"/>
            <a:ext cx="22860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ae-box-2"/>
          <p:cNvSpPr/>
          <p:nvPr/>
        </p:nvSpPr>
        <p:spPr>
          <a:xfrm>
            <a:off x="4937760" y="164592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潛在向量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2402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16 維</a:t>
            </a:r>
            <a:endParaRPr lang="en-US" sz="1300" dirty="0"/>
          </a:p>
        </p:txBody>
      </p:sp>
      <p:sp>
        <p:nvSpPr>
          <p:cNvPr id="14" name="ae-arrow-2"/>
          <p:cNvSpPr/>
          <p:nvPr/>
        </p:nvSpPr>
        <p:spPr>
          <a:xfrm>
            <a:off x="6885432" y="2377440"/>
            <a:ext cx="22860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ae-box-3"/>
          <p:cNvSpPr/>
          <p:nvPr/>
        </p:nvSpPr>
        <p:spPr>
          <a:xfrm>
            <a:off x="7132320" y="164592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OC-SVM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22402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rbf · nu 0.1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圈出真候選的範圍</a:t>
            </a:r>
            <a:endParaRPr lang="en-US" sz="1300" dirty="0"/>
          </a:p>
        </p:txBody>
      </p:sp>
      <p:sp>
        <p:nvSpPr>
          <p:cNvPr id="18" name="ae-arrow-3"/>
          <p:cNvSpPr/>
          <p:nvPr/>
        </p:nvSpPr>
        <p:spPr>
          <a:xfrm>
            <a:off x="9079992" y="2377440"/>
            <a:ext cx="22860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ae-box-4"/>
          <p:cNvSpPr/>
          <p:nvPr/>
        </p:nvSpPr>
        <p:spPr>
          <a:xfrm>
            <a:off x="9326880" y="164592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0976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判斷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22402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範圍內 → 保留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範圍外 → 非極值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611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AE 解碼器 16 → 29,把輸入重建回來(MSE,訓練 60 輪);只拿編碼後的 16 維給 OC-SVM。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062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訓練樣本:50 檔合在一起,2020–2023 候選中的真高點 3,769 天、真低點 3,651 天;高點、低點各一組 AE + OC-SVM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樣本權重:距離 3 以內的相似候選中,同樣是真高(低)點的比例(沿用原系統的「重要性」概念)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編碼器只有一層 29 → 16(973 個參數);原系統 29 → 58 → 8 → 4 有 4,637 個,兩者結果相同;OC-SVM 的 rbf、nu 0.1 沿用原系統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/>
          <p:cNvSpPr/>
          <p:nvPr>
            <p:ph idx="111" type="title" hasCustomPrompt="1"/>
          </p:nvPr>
        </p:nvSpPr>
        <p:spPr>
          <a:xfrm>
            <a:off x="548640" y="320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三分類怎麼來:規則分流,兩個 OC-SVM 各判一種</a:t>
            </a:r>
            <a:endParaRPr lang="en-US" sz="3200" dirty="0"/>
          </a:p>
        </p:txBody>
      </p:sp>
      <p:sp>
        <p:nvSpPr>
          <p:cNvPr id="3" name="flow-start"/>
          <p:cNvSpPr/>
          <p:nvPr/>
        </p:nvSpPr>
        <p:spPr>
          <a:xfrm>
            <a:off x="548640" y="283464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834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 日收盤後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算出 29 個數字</a:t>
            </a:r>
            <a:endParaRPr lang="en-US" sz="1500" dirty="0"/>
          </a:p>
        </p:txBody>
      </p:sp>
      <p:sp>
        <p:nvSpPr>
          <p:cNvPr id="5" name="flow-a1"/>
          <p:cNvSpPr/>
          <p:nvPr/>
        </p:nvSpPr>
        <p:spPr>
          <a:xfrm>
            <a:off x="2286000" y="3337560"/>
            <a:ext cx="457200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  <a:tailEnd type="triangle"/>
          </a:ln>
        </p:spPr>
      </p:sp>
      <p:sp>
        <p:nvSpPr>
          <p:cNvPr id="6" name="flow-rule"/>
          <p:cNvSpPr/>
          <p:nvPr/>
        </p:nvSpPr>
        <p:spPr>
          <a:xfrm>
            <a:off x="2743200" y="2606040"/>
            <a:ext cx="219456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26060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規則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 日收盤在近 6 天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(t-5 ~ t)是…</a:t>
            </a:r>
            <a:endParaRPr lang="en-US" sz="1500" dirty="0"/>
          </a:p>
        </p:txBody>
      </p:sp>
      <p:sp>
        <p:nvSpPr>
          <p:cNvPr id="8" name="flow-a2"/>
          <p:cNvSpPr/>
          <p:nvPr/>
        </p:nvSpPr>
        <p:spPr>
          <a:xfrm>
            <a:off x="4937760" y="3337560"/>
            <a:ext cx="274320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</a:ln>
        </p:spPr>
      </p:sp>
      <p:sp>
        <p:nvSpPr>
          <p:cNvPr id="9" name="flow-trunk"/>
          <p:cNvSpPr/>
          <p:nvPr/>
        </p:nvSpPr>
        <p:spPr>
          <a:xfrm>
            <a:off x="5212080" y="1737360"/>
            <a:ext cx="0" cy="320040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</a:ln>
        </p:spPr>
      </p:sp>
      <p:sp>
        <p:nvSpPr>
          <p:cNvPr id="10" name="flow-b0"/>
          <p:cNvSpPr/>
          <p:nvPr/>
        </p:nvSpPr>
        <p:spPr>
          <a:xfrm>
            <a:off x="5212080" y="1737360"/>
            <a:ext cx="274320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  <a:tailEnd type="triangle"/>
          </a:ln>
        </p:spPr>
      </p:sp>
      <p:sp>
        <p:nvSpPr>
          <p:cNvPr id="11" name="flow-b1"/>
          <p:cNvSpPr/>
          <p:nvPr/>
        </p:nvSpPr>
        <p:spPr>
          <a:xfrm>
            <a:off x="5212080" y="3337560"/>
            <a:ext cx="274320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  <a:tailEnd type="triangle"/>
          </a:ln>
        </p:spPr>
      </p:sp>
      <p:sp>
        <p:nvSpPr>
          <p:cNvPr id="12" name="flow-b2"/>
          <p:cNvSpPr/>
          <p:nvPr/>
        </p:nvSpPr>
        <p:spPr>
          <a:xfrm>
            <a:off x="5212080" y="4937760"/>
            <a:ext cx="274320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  <a:tailEnd type="triangle"/>
          </a:ln>
        </p:spPr>
      </p:sp>
      <p:sp>
        <p:nvSpPr>
          <p:cNvPr id="13" name="cand-high"/>
          <p:cNvSpPr/>
          <p:nvPr/>
        </p:nvSpPr>
        <p:spPr>
          <a:xfrm>
            <a:off x="5486400" y="128016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最高 → 高點候選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3,217 天</a:t>
            </a:r>
            <a:endParaRPr lang="en-US" sz="1500" dirty="0"/>
          </a:p>
        </p:txBody>
      </p:sp>
      <p:sp>
        <p:nvSpPr>
          <p:cNvPr id="15" name="cand-none"/>
          <p:cNvSpPr/>
          <p:nvPr/>
        </p:nvSpPr>
        <p:spPr>
          <a:xfrm>
            <a:off x="5486400" y="288036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2880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都不是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5,865 天</a:t>
            </a:r>
            <a:endParaRPr lang="en-US" sz="1500" dirty="0"/>
          </a:p>
        </p:txBody>
      </p:sp>
      <p:sp>
        <p:nvSpPr>
          <p:cNvPr id="17" name="cand-low"/>
          <p:cNvSpPr/>
          <p:nvPr/>
        </p:nvSpPr>
        <p:spPr>
          <a:xfrm>
            <a:off x="5486400" y="448056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4480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最低 → 低點候選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3,016 天</a:t>
            </a:r>
            <a:endParaRPr lang="en-US" sz="1500" dirty="0"/>
          </a:p>
        </p:txBody>
      </p:sp>
      <p:sp>
        <p:nvSpPr>
          <p:cNvPr id="19" name="flow-c1"/>
          <p:cNvSpPr/>
          <p:nvPr/>
        </p:nvSpPr>
        <p:spPr>
          <a:xfrm>
            <a:off x="7498080" y="1737360"/>
            <a:ext cx="365760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  <a:tailEnd type="triangle"/>
          </a:ln>
        </p:spPr>
      </p:sp>
      <p:sp>
        <p:nvSpPr>
          <p:cNvPr id="20" name="flow-c3"/>
          <p:cNvSpPr/>
          <p:nvPr/>
        </p:nvSpPr>
        <p:spPr>
          <a:xfrm>
            <a:off x="7498080" y="4937760"/>
            <a:ext cx="365760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  <a:tailEnd type="triangle"/>
          </a:ln>
        </p:spPr>
      </p:sp>
      <p:sp>
        <p:nvSpPr>
          <p:cNvPr id="21" name="ocsvm-high"/>
          <p:cNvSpPr/>
          <p:nvPr/>
        </p:nvSpPr>
        <p:spPr>
          <a:xfrm>
            <a:off x="7863840" y="128016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1280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高點 OC-SVM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只學過真高點</a:t>
            </a:r>
            <a:endParaRPr lang="en-US" sz="1500" dirty="0"/>
          </a:p>
        </p:txBody>
      </p:sp>
      <p:sp>
        <p:nvSpPr>
          <p:cNvPr id="23" name="ocsvm-low"/>
          <p:cNvSpPr/>
          <p:nvPr/>
        </p:nvSpPr>
        <p:spPr>
          <a:xfrm>
            <a:off x="7863840" y="448056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0" y="4480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低點 OC-SVM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只學過真低點</a:t>
            </a:r>
            <a:endParaRPr lang="en-US" sz="1500" dirty="0"/>
          </a:p>
        </p:txBody>
      </p:sp>
      <p:sp>
        <p:nvSpPr>
          <p:cNvPr id="25" name="flow-c2"/>
          <p:cNvSpPr/>
          <p:nvPr/>
        </p:nvSpPr>
        <p:spPr>
          <a:xfrm>
            <a:off x="7498080" y="3337560"/>
            <a:ext cx="2423160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86384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不經過模型</a:t>
            </a:r>
            <a:endParaRPr lang="en-US" sz="1100" dirty="0"/>
          </a:p>
        </p:txBody>
      </p:sp>
      <p:sp>
        <p:nvSpPr>
          <p:cNvPr id="27" name="fork-0"/>
          <p:cNvSpPr/>
          <p:nvPr/>
        </p:nvSpPr>
        <p:spPr>
          <a:xfrm>
            <a:off x="9601200" y="1737360"/>
            <a:ext cx="109728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</a:ln>
        </p:spPr>
      </p:sp>
      <p:sp>
        <p:nvSpPr>
          <p:cNvPr id="28" name="fork-v-0"/>
          <p:cNvSpPr/>
          <p:nvPr/>
        </p:nvSpPr>
        <p:spPr>
          <a:xfrm>
            <a:off x="9710928" y="1463040"/>
            <a:ext cx="0" cy="54864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</a:ln>
        </p:spPr>
      </p:sp>
      <p:sp>
        <p:nvSpPr>
          <p:cNvPr id="29" name="fork-in-0"/>
          <p:cNvSpPr/>
          <p:nvPr/>
        </p:nvSpPr>
        <p:spPr>
          <a:xfrm>
            <a:off x="9710928" y="1463040"/>
            <a:ext cx="210312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  <a:tailEnd type="triangle"/>
          </a:ln>
        </p:spPr>
      </p:sp>
      <p:sp>
        <p:nvSpPr>
          <p:cNvPr id="30" name="fork-out-0"/>
          <p:cNvSpPr/>
          <p:nvPr/>
        </p:nvSpPr>
        <p:spPr>
          <a:xfrm>
            <a:off x="9710928" y="2011680"/>
            <a:ext cx="210312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  <a:tailEnd type="triangle"/>
          </a:ln>
        </p:spPr>
      </p:sp>
      <p:sp>
        <p:nvSpPr>
          <p:cNvPr id="31" name="out-in-0"/>
          <p:cNvSpPr/>
          <p:nvPr/>
        </p:nvSpPr>
        <p:spPr>
          <a:xfrm>
            <a:off x="9921240" y="1234440"/>
            <a:ext cx="1719072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921240" y="12344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範圍內:高點 2,638</a:t>
            </a:r>
            <a:endParaRPr lang="en-US" sz="1200" dirty="0"/>
          </a:p>
        </p:txBody>
      </p:sp>
      <p:sp>
        <p:nvSpPr>
          <p:cNvPr id="33" name="out-out-0"/>
          <p:cNvSpPr/>
          <p:nvPr/>
        </p:nvSpPr>
        <p:spPr>
          <a:xfrm>
            <a:off x="9921240" y="1783080"/>
            <a:ext cx="1719072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21240" y="17830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範圍外:非極值 579</a:t>
            </a:r>
            <a:endParaRPr lang="en-US" sz="1200" dirty="0"/>
          </a:p>
        </p:txBody>
      </p:sp>
      <p:sp>
        <p:nvSpPr>
          <p:cNvPr id="35" name="fork-1"/>
          <p:cNvSpPr/>
          <p:nvPr/>
        </p:nvSpPr>
        <p:spPr>
          <a:xfrm>
            <a:off x="9601200" y="4937760"/>
            <a:ext cx="109728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</a:ln>
        </p:spPr>
      </p:sp>
      <p:sp>
        <p:nvSpPr>
          <p:cNvPr id="36" name="fork-v-1"/>
          <p:cNvSpPr/>
          <p:nvPr/>
        </p:nvSpPr>
        <p:spPr>
          <a:xfrm>
            <a:off x="9710928" y="4663440"/>
            <a:ext cx="0" cy="54864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</a:ln>
        </p:spPr>
      </p:sp>
      <p:sp>
        <p:nvSpPr>
          <p:cNvPr id="37" name="fork-in-1"/>
          <p:cNvSpPr/>
          <p:nvPr/>
        </p:nvSpPr>
        <p:spPr>
          <a:xfrm>
            <a:off x="9710928" y="4663440"/>
            <a:ext cx="210312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  <a:tailEnd type="triangle"/>
          </a:ln>
        </p:spPr>
      </p:sp>
      <p:sp>
        <p:nvSpPr>
          <p:cNvPr id="38" name="fork-out-1"/>
          <p:cNvSpPr/>
          <p:nvPr/>
        </p:nvSpPr>
        <p:spPr>
          <a:xfrm>
            <a:off x="9710928" y="5212080"/>
            <a:ext cx="210312" cy="0"/>
          </a:xfrm>
          <a:prstGeom prst="line">
            <a:avLst/>
          </a:prstGeom>
          <a:noFill/>
          <a:ln w="15875">
            <a:solidFill>
              <a:srgbClr val="7A8691"/>
            </a:solidFill>
            <a:prstDash val="solid"/>
            <a:tailEnd type="triangle"/>
          </a:ln>
        </p:spPr>
      </p:sp>
      <p:sp>
        <p:nvSpPr>
          <p:cNvPr id="39" name="out-in-1"/>
          <p:cNvSpPr/>
          <p:nvPr/>
        </p:nvSpPr>
        <p:spPr>
          <a:xfrm>
            <a:off x="9921240" y="4434840"/>
            <a:ext cx="1719072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921240" y="44348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範圍內:低點 2,591</a:t>
            </a:r>
            <a:endParaRPr lang="en-US" sz="1200" dirty="0"/>
          </a:p>
        </p:txBody>
      </p:sp>
      <p:sp>
        <p:nvSpPr>
          <p:cNvPr id="41" name="out-out-1"/>
          <p:cNvSpPr/>
          <p:nvPr/>
        </p:nvSpPr>
        <p:spPr>
          <a:xfrm>
            <a:off x="9921240" y="4983480"/>
            <a:ext cx="1719072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921240" y="49834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範圍外:非極值 425</a:t>
            </a:r>
            <a:endParaRPr lang="en-US" sz="1200" dirty="0"/>
          </a:p>
        </p:txBody>
      </p:sp>
      <p:sp>
        <p:nvSpPr>
          <p:cNvPr id="43" name="out-none"/>
          <p:cNvSpPr/>
          <p:nvPr/>
        </p:nvSpPr>
        <p:spPr>
          <a:xfrm>
            <a:off x="9921240" y="3108960"/>
            <a:ext cx="1719072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921240" y="31089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非極值 5,865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高點候選只會變成高點或非極值,低點候選只會變成低點或非極值,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所以高低點互相判錯 0 次是流程保證的。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數字為 2024 測試期 12,098 天(種子 42)。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/>
          <p:cNvSpPr/>
          <p:nvPr>
            <p:ph idx="111" type="title" hasCustomPrompt="1"/>
          </p:nvPr>
        </p:nvSpPr>
        <p:spPr>
          <a:xfrm>
            <a:off x="548640" y="320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測試結果:真高低點幾乎都在模型的判斷裡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 \ 判斷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判低點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判非極值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判高點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真低點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771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84.4%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15.6%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0.0%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真非極值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1,820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17.7%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6,562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63.8%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1,907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18.5%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真高點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0.0%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165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18.4%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731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81.6%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709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規則 + AE + OC-SVM(主軸,種子 42);格內為天數與該列(實際類別)的比例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463040"/>
          <a:ext cx="4663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1005840"/>
                <a:gridCol w="1005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acc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macro-F1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A869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非極值判對率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全猜非極值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85.0%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30.6%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85.0%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規則基準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63.4%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54.2%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100.0%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 + AE + OC-SVM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66.7%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54.0%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320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95.5%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949440" y="36118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真高點 896 個:判對 731 個(81.6%),沒有一個被判成低點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真低點 913 個:判對 771 個(84.4%),沒有一個被判成高點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判非極值的 6,869 天中,6,562 天真的不是高低點(95.5%)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/>
          <p:cNvSpPr/>
          <p:nvPr>
            <p:ph idx="111" type="title" hasCustomPrompt="1"/>
          </p:nvPr>
        </p:nvSpPr>
        <p:spPr>
          <a:xfrm>
            <a:off x="548640" y="320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局部準確度:挑出的候選比亂猜準 3.7–3.9 倍</a:t>
            </a:r>
            <a:endParaRPr lang="en-US" sz="3200" dirty="0"/>
          </a:p>
        </p:txBody>
      </p:sp>
      <p:graphicFrame>
        <p:nvGraphicFramePr>
          <p:cNvPr id="3" name="precision-chart" descr=""/>
          <p:cNvGraphicFramePr/>
          <p:nvPr/>
        </p:nvGraphicFramePr>
        <p:xfrm>
          <a:off x="548640" y="137160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oc-0"/>
          <p:cNvSpPr/>
          <p:nvPr/>
        </p:nvSpPr>
        <p:spPr>
          <a:xfrm>
            <a:off x="7498080" y="1463040"/>
            <a:ext cx="41148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26680" y="1600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99.9% / 100%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22128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規則找到的真高點 / 真低點</a:t>
            </a:r>
            <a:endParaRPr lang="en-US" sz="1300" dirty="0"/>
          </a:p>
        </p:txBody>
      </p:sp>
      <p:sp>
        <p:nvSpPr>
          <p:cNvPr id="7" name="loc-1"/>
          <p:cNvSpPr/>
          <p:nvPr/>
        </p:nvSpPr>
        <p:spPr>
          <a:xfrm>
            <a:off x="7498080" y="2926080"/>
            <a:ext cx="41148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3063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81.6% / 84.4%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36758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模型判對的真高點 / 真低點</a:t>
            </a:r>
            <a:endParaRPr lang="en-US" sz="1300" dirty="0"/>
          </a:p>
        </p:txBody>
      </p:sp>
      <p:sp>
        <p:nvSpPr>
          <p:cNvPr id="10" name="loc-2"/>
          <p:cNvSpPr/>
          <p:nvPr/>
        </p:nvSpPr>
        <p:spPr>
          <a:xfrm>
            <a:off x="7498080" y="4389120"/>
            <a:ext cx="41148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45262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95.5%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51389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模型判非極值時的正確率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/>
          <p:cNvSpPr/>
          <p:nvPr>
            <p:ph idx="111" type="title" hasCustomPrompt="1"/>
          </p:nvPr>
        </p:nvSpPr>
        <p:spPr>
          <a:xfrm>
            <a:off x="548640" y="320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找到的結果長什麼樣</a:t>
            </a:r>
            <a:endParaRPr lang="en-US" sz="3200" dirty="0"/>
          </a:p>
        </p:txBody>
      </p:sp>
      <p:pic>
        <p:nvPicPr>
          <p:cNvPr id="3" name="examples" descr="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9052560" cy="51023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12680" y="1463040"/>
            <a:ext cx="1691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怎麼看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淺色底 = t 日看得到的 6 天;框起來的是 t;虛線是 t 日收盤。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怎麼挑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每類取「之後 5 天報酬」最接近該類中位數的窗口,是典型例子,不是最好看的。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互動版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網頁可逐檔、逐日點開每個 11 日窗口。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/>
          <p:cNvSpPr/>
          <p:nvPr>
            <p:ph idx="111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總結:成功找到 11 日窗口的局部高低點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99.9%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80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真高低點進了候選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高點 895 / 896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低點 913 / 913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 次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4480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高點與低點互相判錯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4937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真高點沒被判成低點,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真低點沒被判成高點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95.5%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4480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判「非極值」的正確率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4937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6,869 天裡 6,562 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真的不是高低點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23960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3.7–3.9×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4480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命中率是隨機挑的倍數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823960" y="4937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高點 7.4% → 27.7%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低點 7.5% → 29.8%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測試期 2024-01 ~ 2024-12 · TW50 · 12,098 個股票日;模型判對 81.6% 的真高點、84.4% 的真低點</a:t>
            </a:r>
            <a:endParaRPr lang="en-US" sz="1300" dirty="0"/>
          </a:p>
        </p:txBody>
      </p:sp>
      <p:sp>
        <p:nvSpPr>
          <p:cNvPr id="17" name="Text 11"/>
          <p:cNvSpPr/>
          <p:nvPr>
            <p:ph idx="112" type="body" hasCustomPrompt="1"/>
          </p:nvPr>
        </p:nvSpPr>
        <p:spPr>
          <a:xfrm>
            <a:off x="731520" y="342900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W50 Turning Points">
  <a:themeElements>
    <a:clrScheme name="TW50 Turning Points">
      <a:dk1>
        <a:srgbClr val="13202A"/>
      </a:dk1>
      <a:lt1>
        <a:srgbClr val="FFFFFF"/>
      </a:lt1>
      <a:dk2>
        <a:srgbClr val="47545F"/>
      </a:dk2>
      <a:lt2>
        <a:srgbClr val="EEF2F5"/>
      </a:lt2>
      <a:accent1>
        <a:srgbClr val="EB6834"/>
      </a:accent1>
      <a:accent2>
        <a:srgbClr val="2A78D6"/>
      </a:accent2>
      <a:accent3>
        <a:srgbClr val="0CA30C"/>
      </a:accent3>
      <a:accent4>
        <a:srgbClr val="D03B3B"/>
      </a:accent4>
      <a:accent5>
        <a:srgbClr val="7A8691"/>
      </a:accent5>
      <a:accent6>
        <a:srgbClr val="C9D2D9"/>
      </a:accent6>
      <a:hlink>
        <a:srgbClr val="2A78D6"/>
      </a:hlink>
      <a:folHlink>
        <a:srgbClr val="6250D6"/>
      </a:folHlink>
    </a:clrScheme>
    <a:fontScheme name="TW50 Turning Points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TW50 局部高低點偵測</dc:title>
  <dc:subject>PptxGenJS Presentation</dc:subject>
  <dc:creator>fcukproject</dc:creator>
  <cp:lastModifiedBy>fcukproject</cp:lastModifiedBy>
  <cp:revision>1</cp:revision>
  <dcterms:created xsi:type="dcterms:W3CDTF">2026-10-20T05:50:59Z</dcterms:created>
  <dcterms:modified xsi:type="dcterms:W3CDTF">2026-10-20T05:50:59Z</dcterms:modified>
</cp:coreProperties>
</file>