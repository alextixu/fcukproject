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開場" id="{f6dad749-6b71-4c45-47e4-c85298a12167}">
          <p14:sldIdLst>
            <p14:sldId id="256"/>
            <p14:sldId id="257"/>
          </p14:sldIdLst>
        </p14:section>
        <p14:section name="問題與資料" id="{da5e0e93-b598-9ae8-5087-44a59cf24cbc}">
          <p14:sldIdLst>
            <p14:sldId id="258"/>
            <p14:sldId id="259"/>
            <p14:sldId id="260"/>
          </p14:sldIdLst>
        </p14:section>
        <p14:section name="方法與計分" id="{0ab6d104-8277-8326-c1cb-eaeb7fd68d00}">
          <p14:sldIdLst>
            <p14:sldId id="261"/>
            <p14:sldId id="262"/>
            <p14:sldId id="263"/>
          </p14:sldIdLst>
        </p14:section>
        <p14:section name="結果" id="{b227a455-a42c-4583-9256-8efd5e8aaf79}">
          <p14:sldIdLst>
            <p14:sldId id="264"/>
            <p14:sldId id="265"/>
            <p14:sldId id="266"/>
            <p14:sldId id="267"/>
          </p14:sldIdLst>
        </p14:section>
        <p14:section name="收尾" id="{7dfc8a93-9619-7a7a-dbce-412d21b961d9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320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3202A"/>
                </a:solidFill>
                <a:latin typeface="+mn-lt"/>
              </a:rPr>
              <a:t>三類標籤比例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訓練 2020–2023</c:v>
                </c:pt>
              </c:strCache>
            </c:strRef>
          </c:tx>
          <c:spPr>
            <a:solidFill>
              <a:srgbClr val="7A8691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754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低點</c:v>
                  </c:pt>
                  <c:pt idx="1">
                    <c:v>非極值</c:v>
                  </c:pt>
                  <c:pt idx="2">
                    <c:v>高點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7.5</c:v>
                </c:pt>
                <c:pt idx="1">
                  <c:v>84.6</c:v>
                </c:pt>
                <c:pt idx="2">
                  <c:v>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測試 2025–2026</c:v>
                </c:pt>
              </c:strCache>
            </c:strRef>
          </c:tx>
          <c:spPr>
            <a:solidFill>
              <a:srgbClr val="13202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754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低點</c:v>
                  </c:pt>
                  <c:pt idx="1">
                    <c:v>非極值</c:v>
                  </c:pt>
                  <c:pt idx="2">
                    <c:v>高點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7.6</c:v>
                </c:pt>
                <c:pt idx="1">
                  <c:v>85.1</c:v>
                </c:pt>
                <c:pt idx="2">
                  <c:v>7.3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4754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4754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7545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320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3202A"/>
                </a:solidFill>
                <a:latin typeface="+mn-lt"/>
              </a:rPr>
              <a:t>命中率:判成高(低)點的日子中真的是高(低)點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隨機挑一天</c:v>
                </c:pt>
              </c:strCache>
            </c:strRef>
          </c:tx>
          <c:spPr>
            <a:solidFill>
              <a:srgbClr val="C9D2D9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754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高點</c:v>
                  </c:pt>
                  <c:pt idx="1">
                    <c:v>低點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7.3</c:v>
                </c:pt>
                <c:pt idx="1">
                  <c:v>7.6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規則基準</c:v>
                </c:pt>
              </c:strCache>
            </c:strRef>
          </c:tx>
          <c:spPr>
            <a:solidFill>
              <a:srgbClr val="7A8691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754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高點</c:v>
                  </c:pt>
                  <c:pt idx="1">
                    <c:v>低點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25.4</c:v>
                </c:pt>
                <c:pt idx="1">
                  <c:v>32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規則 + AE + OC-SVM</c:v>
                </c:pt>
              </c:strCache>
            </c:strRef>
          </c:tx>
          <c:spPr>
            <a:solidFill>
              <a:srgbClr val="13202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754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高點</c:v>
                  </c:pt>
                  <c:pt idx="1">
                    <c:v>低點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25.7</c:v>
                </c:pt>
                <c:pt idx="1">
                  <c:v>31.5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4754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4754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7545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今天報告我們把題目從「找 K 線型態預測漲跌」改成「找 11 天窗口裡的局部高點和低點」之後的結果。上面這排 11 個小方塊就是一個窗口,中間橘色那格是要判斷的那一天 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先講結論。第一,真正的 11 日高點我們一個都沒漏,低點也只漏一個。第二,模型說「這天不是高低點」的時候,94.5% 是對的。第三,被我們挑出來的候選,是真高低點的機率是隨便挑一天的 3.5 到 4 倍。最後一行是目前的限制,後面會說明。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原本的系統是用 AE 加 OC-SVM 找會大漲的 K 線型態,但回測輸給買進持有。所以我們參考逢甲大學的論文,把目標改成找 11 天窗口裡的局部高點和低點,也就是波段的轉折點。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每個樣本是連續 11 個交易日,中間的第 6 天叫 t。t 日收盤如果是這 11 天最高就標高點、最低就標低點,其他都是非極值。左邊淺色的部分是 t 日收盤當下看得到的;右邊未來 5 天只用來貼標籤,模型看不到。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資料是 TW50 的 50 檔股票,2016 到 2026 年 9 月的還原日 K,總共約 12.9 萬個股票日。訓練用 2020 到 2023 年 48,585 筆,測試用 2025 年到 2026 年 9 月 20,189 筆。高點和低點各只佔 7 到 8%,這個不平衡很重要,後面算 acc 時會再提到。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流程分四步。關鍵在第二步的規則:真正的 11 日高點,一定也是近 6 天的高點,所以規則先把所有可能的候選挑出來,保證不漏。第三步才是我們的 AE 加 OC-SVM,它要從候選裡刪掉那些之後 5 天又被超越的假候選。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模型沿用我們原本系統的 AE 加 OC-SVM。AE 把 6 根 K 線的 29 個數字壓成 4 維,OC-SVM 在這 4 維空間裡圈出真高點候選的範圍。測試時,候選點落在範圍內就保留,否則改判非極值。高點和低點各訓練一組。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判對的定義很簡單:模型的判斷和 11 日窗口貼出來的標籤一樣就算對。acc 是判對的天數除以全部天數。但因為 85% 的日子都是非極值,全猜非極值 acc 就有 85%,卻一個高低點都沒找到,所以論文和我們都用 macro-F1 當主要指標,同時看找到率和命中率。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這是測試期的混淆矩陣。看第一列和最後一列:真低點有 80.7% 被判成低點,真高點有 75.6% 被判成高點,而且高點和低點從來不會互相判錯。右邊的表比較三種做法,模型的 acc 是 67.5%,判非極值時 94.5% 正確。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這頁是我們說的局部準確度。左圖是命中率:隨機挑一天是高點的機率只有 7.3%,被我們挑出來的候選是 25 到 32%,大約是 3.5 到 4 倍。右邊三個數字:真高低點幾乎全部找到,模型保留下 75 到 80%,判非極值時 94.5% 正確。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測試期四種情況的典型例子:左上判對的高點,右上判對的低點,左下是規則挑出來但被模型正確刪掉的假候選,右下是誤報,判了高點但之後又創新高。每一類都是取報酬最接近中位數的窗口,不是挑最好看的。互動網頁(連結:https://claude.ai/artifact/4YudK9qBr4fnsV4NQatjEe,需先分享權限)可以看全部 50 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我們用論文的方法貼標,類別比例和規則基準的分數都跟論文幾乎一樣,代表我們的資料和流程是對的。論文的模型比規則多 1.43 點,主要是加了券商分點資料;它的純價格模型只多 0.6 點,我們的 AE 加 OC-SVM 也是同一個水準。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目前的限制是:被挑出來的候選裡,每 4 個大約有 3 個是假的,AE 加 OC-SVM 還分不出真假候選。下一步的具體目標是把低點候選的命中率拉到 36% 以上,這是扣掉交易成本後不賠錢的門檻。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總結三點。第一,我們照論文方法重現了標籤和規則基準。第二,局部準確度很好:不漏掉真高低點、判非極值很準、候選比亂猜準 3.5 到 4 倍。第三,接下來要提高候選的命中率。謝謝。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32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3" name="Shape 1"/>
          <p:cNvSpPr/>
          <p:nvPr/>
        </p:nvSpPr>
        <p:spPr>
          <a:xfrm>
            <a:off x="996696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4" name="Shape 2"/>
          <p:cNvSpPr/>
          <p:nvPr/>
        </p:nvSpPr>
        <p:spPr>
          <a:xfrm>
            <a:off x="1261872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5" name="Shape 3"/>
          <p:cNvSpPr/>
          <p:nvPr/>
        </p:nvSpPr>
        <p:spPr>
          <a:xfrm>
            <a:off x="1527048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6" name="Shape 4"/>
          <p:cNvSpPr/>
          <p:nvPr/>
        </p:nvSpPr>
        <p:spPr>
          <a:xfrm>
            <a:off x="1792224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7" name="Shape 5"/>
          <p:cNvSpPr/>
          <p:nvPr/>
        </p:nvSpPr>
        <p:spPr>
          <a:xfrm>
            <a:off x="2057400" y="1417320"/>
            <a:ext cx="201168" cy="20116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2322576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9" name="Shape 7"/>
          <p:cNvSpPr/>
          <p:nvPr/>
        </p:nvSpPr>
        <p:spPr>
          <a:xfrm>
            <a:off x="2587752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0" name="Shape 8"/>
          <p:cNvSpPr/>
          <p:nvPr/>
        </p:nvSpPr>
        <p:spPr>
          <a:xfrm>
            <a:off x="2852928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1" name="Shape 9"/>
          <p:cNvSpPr/>
          <p:nvPr/>
        </p:nvSpPr>
        <p:spPr>
          <a:xfrm>
            <a:off x="3118104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2" name="Shape 10"/>
          <p:cNvSpPr/>
          <p:nvPr/>
        </p:nvSpPr>
        <p:spPr>
          <a:xfrm>
            <a:off x="3383280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3" name="Text 11"/>
          <p:cNvSpPr/>
          <p:nvPr>
            <p:ph idx="111" type="title" hasCustomPrompt="1"/>
          </p:nvPr>
        </p:nvSpPr>
        <p:spPr>
          <a:xfrm>
            <a:off x="731520" y="192024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14" name="Text 11"/>
          <p:cNvSpPr/>
          <p:nvPr>
            <p:ph idx="112" type="body" hasCustomPrompt="1"/>
          </p:nvPr>
        </p:nvSpPr>
        <p:spPr>
          <a:xfrm>
            <a:off x="731520" y="3429000"/>
            <a:ext cx="1069848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49840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3" name="Shape 1"/>
          <p:cNvSpPr/>
          <p:nvPr/>
        </p:nvSpPr>
        <p:spPr>
          <a:xfrm>
            <a:off x="10282428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4" name="Shape 2"/>
          <p:cNvSpPr/>
          <p:nvPr/>
        </p:nvSpPr>
        <p:spPr>
          <a:xfrm>
            <a:off x="10415016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5" name="Shape 3"/>
          <p:cNvSpPr/>
          <p:nvPr/>
        </p:nvSpPr>
        <p:spPr>
          <a:xfrm>
            <a:off x="10547604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6" name="Shape 4"/>
          <p:cNvSpPr/>
          <p:nvPr/>
        </p:nvSpPr>
        <p:spPr>
          <a:xfrm>
            <a:off x="10680192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7" name="Shape 5"/>
          <p:cNvSpPr/>
          <p:nvPr/>
        </p:nvSpPr>
        <p:spPr>
          <a:xfrm>
            <a:off x="10812780" y="566928"/>
            <a:ext cx="100584" cy="10058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0945368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9" name="Shape 7"/>
          <p:cNvSpPr/>
          <p:nvPr/>
        </p:nvSpPr>
        <p:spPr>
          <a:xfrm>
            <a:off x="11077956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0" name="Shape 8"/>
          <p:cNvSpPr/>
          <p:nvPr/>
        </p:nvSpPr>
        <p:spPr>
          <a:xfrm>
            <a:off x="11210544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1" name="Shape 9"/>
          <p:cNvSpPr/>
          <p:nvPr/>
        </p:nvSpPr>
        <p:spPr>
          <a:xfrm>
            <a:off x="11343132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2" name="Shape 10"/>
          <p:cNvSpPr/>
          <p:nvPr/>
        </p:nvSpPr>
        <p:spPr>
          <a:xfrm>
            <a:off x="11475720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3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TW50 局部高低點偵測 · 專題進度 2026-10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731520" y="192024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TW50 局部高低點偵測</a:t>
            </a:r>
            <a:endParaRPr lang="en-US" sz="4400" dirty="0"/>
          </a:p>
        </p:txBody>
      </p:sp>
      <p:sp>
        <p:nvSpPr>
          <p:cNvPr id="3" name="Text 11"/>
          <p:cNvSpPr/>
          <p:nvPr>
            <p:ph idx="112" type="body" hasCustomPrompt="1"/>
          </p:nvPr>
        </p:nvSpPr>
        <p:spPr>
          <a:xfrm>
            <a:off x="731520" y="3429000"/>
            <a:ext cx="10698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11 日窗口 · 論文標籤 + 規則候選 + AE + OC-SVM</a:t>
            </a:r>
            <a:endParaRPr lang="en-US" sz="1800" dirty="0"/>
          </a:p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專題進度報告 · 2026-10-19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一頁看結果:真高低點不漏,判非極值很準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548640" y="1463040"/>
            <a:ext cx="3474720" cy="338328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73736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100%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834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真高低點全部進候選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33756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測試期 1,470 個 11 日高點,規則一個都沒漏;低點 1,532 個找到 1,531 個(99.9%)</a:t>
            </a:r>
            <a:endParaRPr lang="en-US" sz="1300" dirty="0"/>
          </a:p>
        </p:txBody>
      </p:sp>
      <p:sp>
        <p:nvSpPr>
          <p:cNvPr id="7" name="stat-1"/>
          <p:cNvSpPr/>
          <p:nvPr/>
        </p:nvSpPr>
        <p:spPr>
          <a:xfrm>
            <a:off x="4297680" y="1463040"/>
            <a:ext cx="3474720" cy="338328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173736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3"/>
                </a:solidFill>
              </a:rPr>
              <a:t>94.5%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834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判「不是高低點」時正確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333756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模型判非極值的 11,942 天裡,11,288 天真的不是高低點</a:t>
            </a:r>
            <a:endParaRPr lang="en-US" sz="1300" dirty="0"/>
          </a:p>
        </p:txBody>
      </p:sp>
      <p:sp>
        <p:nvSpPr>
          <p:cNvPr id="11" name="stat-2"/>
          <p:cNvSpPr/>
          <p:nvPr/>
        </p:nvSpPr>
        <p:spPr>
          <a:xfrm>
            <a:off x="8046720" y="1463040"/>
            <a:ext cx="3474720" cy="338328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73736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2"/>
                </a:solidFill>
              </a:rPr>
              <a:t>3.5–4.2×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834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候選的命中率是亂猜的倍數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33756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隨機挑一天是高(低)點的機率只有 7.3%(7.6%);被挑出的候選是 25.7%(31.5%)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120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測試期 2025-01 ~ 2026-09,TW50 共 20,189 個股票日。限制:被挑出的候選中只有 25–32% 是真高低點,見第 13 頁。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我們的找尋怎麼變成找 11 天高低點</a:t>
            </a:r>
            <a:endParaRPr lang="en-US" sz="3200" dirty="0"/>
          </a:p>
        </p:txBody>
      </p:sp>
      <p:sp>
        <p:nvSpPr>
          <p:cNvPr id="3" name="before"/>
          <p:cNvSpPr/>
          <p:nvPr/>
        </p:nvSpPr>
        <p:spPr>
          <a:xfrm>
            <a:off x="548640" y="1417320"/>
            <a:ext cx="5120640" cy="3611880"/>
          </a:xfrm>
          <a:prstGeom prst="roundRect">
            <a:avLst>
              <a:gd name="adj" fmla="val 20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之前(2026-03 ~ 09)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116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K 線型態 + AE + OC-SVM 預測 5 日大漲大跌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88036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輸入 1 / 2 / 3 日 K 線特徵,找「之後 5 天漲超過 5%」的相似型態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2026 回測勝率 52.9%,組合 +40.9%,輸給同期買進持有 +73.9%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問題:「會不會大漲」太難,而且跟買賣時點沒有直接關係</a:t>
            </a:r>
            <a:endParaRPr lang="en-US" sz="1500" dirty="0"/>
          </a:p>
        </p:txBody>
      </p:sp>
      <p:sp>
        <p:nvSpPr>
          <p:cNvPr id="7" name="arrow"/>
          <p:cNvSpPr/>
          <p:nvPr/>
        </p:nvSpPr>
        <p:spPr>
          <a:xfrm>
            <a:off x="5806440" y="2971800"/>
            <a:ext cx="548640" cy="5029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after"/>
          <p:cNvSpPr/>
          <p:nvPr/>
        </p:nvSpPr>
        <p:spPr>
          <a:xfrm>
            <a:off x="6492240" y="1417320"/>
            <a:ext cx="5120640" cy="3611880"/>
          </a:xfrm>
          <a:prstGeom prst="roundRect">
            <a:avLst>
              <a:gd name="adj" fmla="val 20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766560" y="1645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現在(2026-10 起)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20116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找 11 天窗口裡的局部高點與低點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766560" y="288036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參考逢甲大學郭念慈、李俊宏的局部極值定義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目標貼近「低點進場、高點出場」:找轉折點,不猜漲多少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標籤只用個股自己的價格,不需要大盤當比較基準</a:t>
            </a:r>
            <a:endParaRPr lang="en-US" sz="1500" dirty="0"/>
          </a:p>
        </p:txBody>
      </p:sp>
      <p:sp>
        <p:nvSpPr>
          <p:cNvPr id="12" name="same-model"/>
          <p:cNvSpPr/>
          <p:nvPr/>
        </p:nvSpPr>
        <p:spPr>
          <a:xfrm>
            <a:off x="548640" y="5212080"/>
            <a:ext cx="11064240" cy="822960"/>
          </a:xfrm>
          <a:prstGeom prst="roundRect">
            <a:avLst>
              <a:gd name="adj" fmla="val 888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不變的: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模型仍是 AE + OC-SVM;改變的是「要找什麼」:從會大漲的型態,變成 11 天窗口的第 6 天是不是轉折點。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標籤怎麼貼:第 6 天是不是 11 天的最高或最低</a:t>
            </a:r>
            <a:endParaRPr lang="en-US" sz="3200" dirty="0"/>
          </a:p>
        </p:txBody>
      </p:sp>
      <p:pic>
        <p:nvPicPr>
          <p:cNvPr id="3" name="window-example" descr="window_annota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766560" cy="366674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16636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實例:台積電 2026-02-25,t 日收盤 2003 是前後各 5 天裡最高 → 高點</a:t>
            </a:r>
            <a:endParaRPr lang="en-US" sz="1200" dirty="0"/>
          </a:p>
        </p:txBody>
      </p:sp>
      <p:sp>
        <p:nvSpPr>
          <p:cNvPr id="5" name="rules"/>
          <p:cNvSpPr/>
          <p:nvPr/>
        </p:nvSpPr>
        <p:spPr>
          <a:xfrm>
            <a:off x="7680960" y="1371600"/>
            <a:ext cx="3931920" cy="4251960"/>
          </a:xfrm>
          <a:prstGeom prst="roundRect">
            <a:avLst>
              <a:gd name="adj" fmla="val 186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955280" y="1600200"/>
            <a:ext cx="34747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窗口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t-5 ~ t+5,共 11 個交易日,t 是第 6 天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高點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t 日收盤是 11 天最高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低點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t 日收盤是 11 天最低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非極值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其餘;與別天並列最高(低)也算高(低)點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判斷時點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 日收盤後,只看得到 t-5 ~ 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資料量:TW50 · 2016 ~ 2026 · 12.9 萬個股票日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60350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6634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內容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股票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TW50 成分股 50 檔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價格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yfinance 還原權息日 K(開高低收量)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期間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2016-01 ~ 2026-09,可貼標的股票日 129,067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訓練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2020-01 ~ 2023-12:48,585 筆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　其中候選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高點候選 13,994、低點候選 11,465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測試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2025-01 ~ 2026-09:20,189 筆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防止偷看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測試期開始前 5 個交易日剔除(標籤用到 t+5)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class-share" descr=""/>
          <p:cNvGraphicFramePr/>
          <p:nvPr/>
        </p:nvGraphicFramePr>
        <p:xfrm>
          <a:off x="6949440" y="1371600"/>
          <a:ext cx="46634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949440" y="480060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每 100 天只有約 7–8 天是高點、7–8 天是低點,其餘 85 天都不是。所以全猜「非極值」acc 就有 85%。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方法流程:規則挑候選,AE + OC-SVM 篩候選</a:t>
            </a:r>
            <a:endParaRPr lang="en-US" sz="3200" dirty="0"/>
          </a:p>
        </p:txBody>
      </p:sp>
      <p:sp>
        <p:nvSpPr>
          <p:cNvPr id="3" name="step-1"/>
          <p:cNvSpPr/>
          <p:nvPr/>
        </p:nvSpPr>
        <p:spPr>
          <a:xfrm>
            <a:off x="548640" y="1554480"/>
            <a:ext cx="2560320" cy="292608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ep-dot-1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688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 日收盤後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取 t-5 ~ t 六根 K 線(開高低收量,29 個數字)</a:t>
            </a:r>
            <a:endParaRPr lang="en-US" sz="1300" dirty="0"/>
          </a:p>
        </p:txBody>
      </p:sp>
      <p:sp>
        <p:nvSpPr>
          <p:cNvPr id="8" name="step-arrow-1"/>
          <p:cNvSpPr/>
          <p:nvPr/>
        </p:nvSpPr>
        <p:spPr>
          <a:xfrm>
            <a:off x="3136392" y="2880360"/>
            <a:ext cx="219456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step-2"/>
          <p:cNvSpPr/>
          <p:nvPr/>
        </p:nvSpPr>
        <p:spPr>
          <a:xfrm>
            <a:off x="3383280" y="1554480"/>
            <a:ext cx="2560320" cy="292608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tep-dot-2"/>
          <p:cNvSpPr/>
          <p:nvPr/>
        </p:nvSpPr>
        <p:spPr>
          <a:xfrm>
            <a:off x="3611880" y="1783080"/>
            <a:ext cx="502920" cy="5029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1188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24688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規則挑候選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61188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 日收盤是近 6 天最高 → 高點候選;最低 → 低點候選;其餘直接判非極值</a:t>
            </a:r>
            <a:endParaRPr lang="en-US" sz="1300" dirty="0"/>
          </a:p>
        </p:txBody>
      </p:sp>
      <p:sp>
        <p:nvSpPr>
          <p:cNvPr id="14" name="step-arrow-2"/>
          <p:cNvSpPr/>
          <p:nvPr/>
        </p:nvSpPr>
        <p:spPr>
          <a:xfrm>
            <a:off x="5971032" y="2880360"/>
            <a:ext cx="219456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step-3"/>
          <p:cNvSpPr/>
          <p:nvPr/>
        </p:nvSpPr>
        <p:spPr>
          <a:xfrm>
            <a:off x="6217920" y="1554480"/>
            <a:ext cx="2560320" cy="292608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tep-dot-3"/>
          <p:cNvSpPr/>
          <p:nvPr/>
        </p:nvSpPr>
        <p:spPr>
          <a:xfrm>
            <a:off x="6446520" y="1783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4652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24688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AE + OC-SVM 篩選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44652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候選落在「真高(低)點」的範圍內才保留,範圍外改判非極值</a:t>
            </a:r>
            <a:endParaRPr lang="en-US" sz="1300" dirty="0"/>
          </a:p>
        </p:txBody>
      </p:sp>
      <p:sp>
        <p:nvSpPr>
          <p:cNvPr id="20" name="step-arrow-3"/>
          <p:cNvSpPr/>
          <p:nvPr/>
        </p:nvSpPr>
        <p:spPr>
          <a:xfrm>
            <a:off x="8805672" y="2880360"/>
            <a:ext cx="219456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1" name="step-4"/>
          <p:cNvSpPr/>
          <p:nvPr/>
        </p:nvSpPr>
        <p:spPr>
          <a:xfrm>
            <a:off x="9052560" y="1554480"/>
            <a:ext cx="2560320" cy="292608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step-dot-4"/>
          <p:cNvSpPr/>
          <p:nvPr/>
        </p:nvSpPr>
        <p:spPr>
          <a:xfrm>
            <a:off x="9281160" y="1783080"/>
            <a:ext cx="502920" cy="5029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28116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9281160" y="24688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輸出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928116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每天一個判斷:高點 / 非極值 / 低點</a:t>
            </a:r>
            <a:endParaRPr lang="en-US" sz="1300" dirty="0"/>
          </a:p>
        </p:txBody>
      </p:sp>
      <p:sp>
        <p:nvSpPr>
          <p:cNvPr id="26" name="why-rule"/>
          <p:cNvSpPr/>
          <p:nvPr/>
        </p:nvSpPr>
        <p:spPr>
          <a:xfrm>
            <a:off x="548640" y="4754880"/>
            <a:ext cx="110642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2960" y="4919472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為什麼規則不會漏: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 日如果是 11 天最高,一定也是近 6 天(t-5 ~ t)最高,而這在 t 日收盤就知道。所以真高低點全部都在候選裡,模型的工作只剩「從候選裡刪掉之後 5 天被超越的假候選」。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AE + OC-SVM:學「真高低點」長什麼樣</a:t>
            </a:r>
            <a:endParaRPr lang="en-US" sz="3200" dirty="0"/>
          </a:p>
        </p:txBody>
      </p:sp>
      <p:sp>
        <p:nvSpPr>
          <p:cNvPr id="3" name="ae-box-0"/>
          <p:cNvSpPr/>
          <p:nvPr/>
        </p:nvSpPr>
        <p:spPr>
          <a:xfrm>
            <a:off x="548640" y="164592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830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輸入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29 維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 根 K 線形態</a:t>
            </a:r>
            <a:endParaRPr lang="en-US" sz="1300" dirty="0"/>
          </a:p>
        </p:txBody>
      </p:sp>
      <p:sp>
        <p:nvSpPr>
          <p:cNvPr id="6" name="ae-arrow-0"/>
          <p:cNvSpPr/>
          <p:nvPr/>
        </p:nvSpPr>
        <p:spPr>
          <a:xfrm>
            <a:off x="2496312" y="2377440"/>
            <a:ext cx="228600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ae-box-1"/>
          <p:cNvSpPr/>
          <p:nvPr/>
        </p:nvSpPr>
        <p:spPr>
          <a:xfrm>
            <a:off x="2743200" y="164592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26080" y="17830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AE 編碼器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22402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29 → 58 → 8 → 4</a:t>
            </a:r>
            <a:endParaRPr lang="en-US" sz="1300" dirty="0"/>
          </a:p>
        </p:txBody>
      </p:sp>
      <p:sp>
        <p:nvSpPr>
          <p:cNvPr id="10" name="ae-arrow-1"/>
          <p:cNvSpPr/>
          <p:nvPr/>
        </p:nvSpPr>
        <p:spPr>
          <a:xfrm>
            <a:off x="4690872" y="2377440"/>
            <a:ext cx="228600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ae-box-2"/>
          <p:cNvSpPr/>
          <p:nvPr/>
        </p:nvSpPr>
        <p:spPr>
          <a:xfrm>
            <a:off x="4937760" y="164592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20640" y="17830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潛在向量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120640" y="22402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4 維</a:t>
            </a:r>
            <a:endParaRPr lang="en-US" sz="1300" dirty="0"/>
          </a:p>
        </p:txBody>
      </p:sp>
      <p:sp>
        <p:nvSpPr>
          <p:cNvPr id="14" name="ae-arrow-2"/>
          <p:cNvSpPr/>
          <p:nvPr/>
        </p:nvSpPr>
        <p:spPr>
          <a:xfrm>
            <a:off x="6885432" y="2377440"/>
            <a:ext cx="228600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ae-box-3"/>
          <p:cNvSpPr/>
          <p:nvPr/>
        </p:nvSpPr>
        <p:spPr>
          <a:xfrm>
            <a:off x="7132320" y="164592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0" y="17830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OC-SVM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22402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rbf · nu 0.1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圈出真候選的範圍</a:t>
            </a:r>
            <a:endParaRPr lang="en-US" sz="1300" dirty="0"/>
          </a:p>
        </p:txBody>
      </p:sp>
      <p:sp>
        <p:nvSpPr>
          <p:cNvPr id="18" name="ae-arrow-3"/>
          <p:cNvSpPr/>
          <p:nvPr/>
        </p:nvSpPr>
        <p:spPr>
          <a:xfrm>
            <a:off x="9079992" y="2377440"/>
            <a:ext cx="228600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9" name="ae-box-4"/>
          <p:cNvSpPr/>
          <p:nvPr/>
        </p:nvSpPr>
        <p:spPr>
          <a:xfrm>
            <a:off x="9326880" y="164592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509760" y="17830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判斷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509760" y="22402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範圍內 → 保留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範圍外 → 非極值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6118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AE 解碼器 4 → 8 → 58 → 29,把輸入重建回來(MSE,訓練 60 輪);只拿編碼後的 4 維給 OC-SVM。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20624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訓練樣本:訓練期(2020–2023)的規則候選點;高點、低點各訓練一組 AE + OC-SVM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樣本權重:距離 3 以內的相似候選中,同樣是真高(低)點的比例(沿用原系統的「重要性」概念)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AE 與 OC-SVM 的結構、潛在維度 4、nu 0.1 都直接沿用 method_kline 原系統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acc 怎樣算對:判斷與 11 日窗口標籤相同</a:t>
            </a:r>
            <a:endParaRPr lang="en-US" sz="3200" dirty="0"/>
          </a:p>
        </p:txBody>
      </p:sp>
      <p:sp>
        <p:nvSpPr>
          <p:cNvPr id="3" name="rule-of-right"/>
          <p:cNvSpPr/>
          <p:nvPr/>
        </p:nvSpPr>
        <p:spPr>
          <a:xfrm>
            <a:off x="548640" y="1417320"/>
            <a:ext cx="5394960" cy="2880360"/>
          </a:xfrm>
          <a:prstGeom prst="roundRect">
            <a:avLst>
              <a:gd name="adj" fmla="val 254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463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一天算「判對」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模型在 t 日收盤後給的判斷(高點 / 非極值 / 低點),和用 t-5 ~ t+5 貼出來的標籤一樣。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例:判高點,而 t 日收盤真的是 11 天最高 → 對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例:判高點,但之後 5 天收盤更高 → 錯(假候選)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例:判非極值,而那天真的不是高低點 → 對</a:t>
            </a:r>
            <a:endParaRPr lang="en-US" sz="1500" dirty="0"/>
          </a:p>
        </p:txBody>
      </p:sp>
      <p:sp>
        <p:nvSpPr>
          <p:cNvPr id="5" name="acc-trap"/>
          <p:cNvSpPr/>
          <p:nvPr/>
        </p:nvSpPr>
        <p:spPr>
          <a:xfrm>
            <a:off x="548640" y="4480560"/>
            <a:ext cx="53949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572000"/>
            <a:ext cx="1920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85.1%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2743200" y="457200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全猜「非極值」的 acc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一個高低點都沒找到,macro-F1 只有 30.7%。所以不能只看 acc。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15544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acc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321040" y="15544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判對的天數 ÷ 全部天數</a:t>
            </a:r>
            <a:endParaRPr lang="en-US" sz="1400" dirty="0"/>
          </a:p>
        </p:txBody>
      </p:sp>
      <p:sp>
        <p:nvSpPr>
          <p:cNvPr id="10" name="def-rule-1"/>
          <p:cNvSpPr/>
          <p:nvPr/>
        </p:nvSpPr>
        <p:spPr>
          <a:xfrm>
            <a:off x="6309360" y="2496312"/>
            <a:ext cx="5303520" cy="0"/>
          </a:xfrm>
          <a:prstGeom prst="line">
            <a:avLst/>
          </a:prstGeom>
          <a:noFill/>
          <a:ln w="9525">
            <a:solidFill>
              <a:srgbClr val="C9D2D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09360" y="26060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找到率(召回)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6060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真高點中被判成高點的比例</a:t>
            </a:r>
            <a:endParaRPr lang="en-US" sz="1400" dirty="0"/>
          </a:p>
        </p:txBody>
      </p:sp>
      <p:sp>
        <p:nvSpPr>
          <p:cNvPr id="13" name="def-rule-2"/>
          <p:cNvSpPr/>
          <p:nvPr/>
        </p:nvSpPr>
        <p:spPr>
          <a:xfrm>
            <a:off x="6309360" y="3547872"/>
            <a:ext cx="5303520" cy="0"/>
          </a:xfrm>
          <a:prstGeom prst="line">
            <a:avLst/>
          </a:prstGeom>
          <a:noFill/>
          <a:ln w="9525">
            <a:solidFill>
              <a:srgbClr val="C9D2D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09360" y="36576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命中率(精確)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36576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判成高點的天數中真的是高點的比例</a:t>
            </a:r>
            <a:endParaRPr lang="en-US" sz="1400" dirty="0"/>
          </a:p>
        </p:txBody>
      </p:sp>
      <p:sp>
        <p:nvSpPr>
          <p:cNvPr id="16" name="def-rule-3"/>
          <p:cNvSpPr/>
          <p:nvPr/>
        </p:nvSpPr>
        <p:spPr>
          <a:xfrm>
            <a:off x="6309360" y="4599432"/>
            <a:ext cx="5303520" cy="0"/>
          </a:xfrm>
          <a:prstGeom prst="line">
            <a:avLst/>
          </a:prstGeom>
          <a:noFill/>
          <a:ln w="9525">
            <a:solidFill>
              <a:srgbClr val="C9D2D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4709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macro-F1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47091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高點、非極值、低點三類 F1 的平均;論文的主要指標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測試結果:真高低點幾乎都在模型的判斷裡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60350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554480"/>
                <a:gridCol w="1554480"/>
                <a:gridCol w="1554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實際 \ 判斷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判低點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判非極值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判高點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真低點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1,237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80.7%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295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19.3%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D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真非極值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2,690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15.7%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11,288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65.7%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87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3,209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18.7%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2FB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真高點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359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24.4%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1,111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75.6%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5CAB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70916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規則 + AE + OC-SVM(主軸,種子 42);格內為天數與該列(實際類別)的比例</a:t>
            </a:r>
            <a:endParaRPr lang="en-US" sz="12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1463040"/>
          <a:ext cx="46634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822960"/>
                <a:gridCol w="1005840"/>
                <a:gridCol w="10058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acc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macro-F1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非極值判對率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全猜非極值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85.1%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30.7%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85.1%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規則基準(論文)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62.4%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53.5%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100.0%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規則 + AE + OC-SVM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67.5%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53.7%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94.5%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949440" y="361188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真高點 1,470 個:判對 1,111 個(75.6%),沒有一個被判成低點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真低點 1,532 個:判對 1,237 個(80.7%),沒有一個被判成高點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3 個種子平均 macro-F1 53.60 ± 0.15%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局部準確度:挑出的候選比亂猜準 3.5–4.2 倍</a:t>
            </a:r>
            <a:endParaRPr lang="en-US" sz="3200" dirty="0"/>
          </a:p>
        </p:txBody>
      </p:sp>
      <p:graphicFrame>
        <p:nvGraphicFramePr>
          <p:cNvPr id="3" name="precision-chart" descr=""/>
          <p:cNvGraphicFramePr/>
          <p:nvPr/>
        </p:nvGraphicFramePr>
        <p:xfrm>
          <a:off x="548640" y="1371600"/>
          <a:ext cx="65836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loc-0"/>
          <p:cNvSpPr/>
          <p:nvPr/>
        </p:nvSpPr>
        <p:spPr>
          <a:xfrm>
            <a:off x="7498080" y="1463040"/>
            <a:ext cx="411480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26680" y="160020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100% / 99.9%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7726680" y="22128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規則找到的真高點 / 真低點</a:t>
            </a:r>
            <a:endParaRPr lang="en-US" sz="1300" dirty="0"/>
          </a:p>
        </p:txBody>
      </p:sp>
      <p:sp>
        <p:nvSpPr>
          <p:cNvPr id="7" name="loc-1"/>
          <p:cNvSpPr/>
          <p:nvPr/>
        </p:nvSpPr>
        <p:spPr>
          <a:xfrm>
            <a:off x="7498080" y="2926080"/>
            <a:ext cx="411480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26680" y="306324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75.6% / 80.7%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367588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模型保留下來的真高點 / 真低點</a:t>
            </a:r>
            <a:endParaRPr lang="en-US" sz="1300" dirty="0"/>
          </a:p>
        </p:txBody>
      </p:sp>
      <p:sp>
        <p:nvSpPr>
          <p:cNvPr id="10" name="loc-2"/>
          <p:cNvSpPr/>
          <p:nvPr/>
        </p:nvSpPr>
        <p:spPr>
          <a:xfrm>
            <a:off x="7498080" y="4389120"/>
            <a:ext cx="411480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26680" y="452628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</a:rPr>
              <a:t>94.5%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7726680" y="513892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模型判非極值時的正確率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找到的結果長什麼樣</a:t>
            </a:r>
            <a:endParaRPr lang="en-US" sz="3200" dirty="0"/>
          </a:p>
        </p:txBody>
      </p:sp>
      <p:pic>
        <p:nvPicPr>
          <p:cNvPr id="3" name="examples" descr="examp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80160"/>
            <a:ext cx="9052560" cy="510235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012680" y="1463040"/>
            <a:ext cx="16916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怎麼看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淺色底 = t 日看得到的 6 天;框起來的是 t;虛線是 t 日收盤。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怎麼挑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每類取「之後 5 天報酬」最接近該類中位數的窗口,是典型例子,不是最好看的。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互動版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網頁可逐檔、逐日點開每個 11 日窗口。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與論文比較:規則基準完整重現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383280"/>
                <a:gridCol w="2651760"/>
                <a:gridCol w="26517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論文(12 檔,測試 2025-10 ~ 2026-03)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我們 TW50 · 論文切分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我們 TW50 · 我們的切分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低點 / 非極值 / 高點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8.5 / 84.5 / 7.0%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8.0 / 85.0 / 7.0%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7.6 / 85.1 / 7.3%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規則基準 macro-F1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53.38%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52.32%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53.54%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規則基準 BalAcc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84.90%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84.69%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85.27%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模型 macro-F1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54.81%(雙分支 GNN + 券商分點)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52.52%(AE + OC-SVM)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53.60%(AE + OC-SVM)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模型 − 規則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+1.43 點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+0.21 點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+0.05 點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02920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照論文定義貼標,類別比例與規則基準的分數都和論文幾乎相同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論文的模型比規則多 1.43 點,主要來自券商分點資料(我們沒有);論文自己的純價格模型只多 0.6 點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限制與下一步</a:t>
            </a:r>
            <a:endParaRPr lang="en-US" sz="3200" dirty="0"/>
          </a:p>
        </p:txBody>
      </p:sp>
      <p:sp>
        <p:nvSpPr>
          <p:cNvPr id="3" name="limits"/>
          <p:cNvSpPr/>
          <p:nvPr/>
        </p:nvSpPr>
        <p:spPr>
          <a:xfrm>
            <a:off x="548640" y="1417320"/>
            <a:ext cx="5394960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目前的限制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9456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判出的高點只有 25.7%、低點 31.5% 是真的;每 4 個約 3 個是之後 5 天被超越的假候選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AE + OC-SVM(含真、假候選各學一組)保留真、假候選的比例相同,還沒贏過規則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規則訊號直接交易(持有 5 天):低點做多勝率 54.3%,每天都做多 53.1%</a:t>
            </a:r>
            <a:endParaRPr lang="en-US" sz="1500" dirty="0"/>
          </a:p>
        </p:txBody>
      </p:sp>
      <p:sp>
        <p:nvSpPr>
          <p:cNvPr id="6" name="next"/>
          <p:cNvSpPr/>
          <p:nvPr/>
        </p:nvSpPr>
        <p:spPr>
          <a:xfrm>
            <a:off x="6217920" y="1417320"/>
            <a:ext cx="5394960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92240" y="16459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下一步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19456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把低點候選的命中率從 31.5% 拉到 36% 以上:扣掉 0.42% 交易成本後的損益兩平點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接入券商分點資料,這是論文提升的來源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改預測「低點訊號之後 5 天會不會賺錢」,讓標籤直接對應交易</a:t>
            </a:r>
            <a:endParaRPr lang="en-US" sz="1500" dirty="0"/>
          </a:p>
        </p:txBody>
      </p:sp>
      <p:sp>
        <p:nvSpPr>
          <p:cNvPr id="9" name="gap-0"/>
          <p:cNvSpPr/>
          <p:nvPr/>
        </p:nvSpPr>
        <p:spPr>
          <a:xfrm>
            <a:off x="548640" y="484632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484632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低點候選命中率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331720" y="484632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現在 </a:t>
            </a:r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31.5%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→  兩平 </a:t>
            </a:r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36%</a:t>
            </a:r>
            <a:endParaRPr lang="en-US" sz="1500" dirty="0"/>
          </a:p>
        </p:txBody>
      </p:sp>
      <p:sp>
        <p:nvSpPr>
          <p:cNvPr id="12" name="gap-1"/>
          <p:cNvSpPr/>
          <p:nvPr/>
        </p:nvSpPr>
        <p:spPr>
          <a:xfrm>
            <a:off x="6217920" y="484632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484632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高點候選命中率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001000" y="484632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現在 </a:t>
            </a:r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25.7%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→  兩平 </a:t>
            </a:r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47%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731520" y="192024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結論</a:t>
            </a:r>
            <a:endParaRPr lang="en-US" sz="4400" dirty="0"/>
          </a:p>
        </p:txBody>
      </p:sp>
      <p:sp>
        <p:nvSpPr>
          <p:cNvPr id="3" name="Text 11"/>
          <p:cNvSpPr/>
          <p:nvPr>
            <p:ph idx="112" type="body" hasCustomPrompt="1"/>
          </p:nvPr>
        </p:nvSpPr>
        <p:spPr>
          <a:xfrm>
            <a:off x="731520" y="3429000"/>
            <a:ext cx="10698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bg2"/>
                </a:solidFill>
              </a:rPr>
              <a:t>依論文定義在 TW50 重現 11 日局部高低點標籤與規則基準(macro-F1 53.5%,論文 53.4%)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bg2"/>
                </a:solidFill>
              </a:rPr>
              <a:t>局部準確度:真高低點 100% 進候選,判非極值 94.5% 正確,候選命中率是亂猜的 3.5–4.2 倍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bg2"/>
                </a:solidFill>
              </a:rPr>
              <a:t>下一步:提高候選命中率,低點目標 36% 以上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W50 Turning Points">
  <a:themeElements>
    <a:clrScheme name="TW50 Turning Points">
      <a:dk1>
        <a:srgbClr val="13202A"/>
      </a:dk1>
      <a:lt1>
        <a:srgbClr val="FFFFFF"/>
      </a:lt1>
      <a:dk2>
        <a:srgbClr val="47545F"/>
      </a:dk2>
      <a:lt2>
        <a:srgbClr val="EEF2F5"/>
      </a:lt2>
      <a:accent1>
        <a:srgbClr val="EB6834"/>
      </a:accent1>
      <a:accent2>
        <a:srgbClr val="2A78D6"/>
      </a:accent2>
      <a:accent3>
        <a:srgbClr val="0CA30C"/>
      </a:accent3>
      <a:accent4>
        <a:srgbClr val="D03B3B"/>
      </a:accent4>
      <a:accent5>
        <a:srgbClr val="7A8691"/>
      </a:accent5>
      <a:accent6>
        <a:srgbClr val="C9D2D9"/>
      </a:accent6>
      <a:hlink>
        <a:srgbClr val="2A78D6"/>
      </a:hlink>
      <a:folHlink>
        <a:srgbClr val="6250D6"/>
      </a:folHlink>
    </a:clrScheme>
    <a:fontScheme name="TW50 Turning Points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TW50 局部高低點偵測</dc:title>
  <dc:subject>PptxGenJS Presentation</dc:subject>
  <dc:creator>fcukproject</dc:creator>
  <cp:lastModifiedBy>fcukproject</cp:lastModifiedBy>
  <cp:revision>1</cp:revision>
  <dcterms:created xsi:type="dcterms:W3CDTF">2026-10-19T14:50:37Z</dcterms:created>
  <dcterms:modified xsi:type="dcterms:W3CDTF">2026-10-19T14:50:37Z</dcterms:modified>
</cp:coreProperties>
</file>