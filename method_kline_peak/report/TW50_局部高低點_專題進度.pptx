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894b7658-b22a-274d-c0ca-2eb4b26ab32e}">
          <p14:sldIdLst>
            <p14:sldId id="256"/>
            <p14:sldId id="257"/>
          </p14:sldIdLst>
        </p14:section>
        <p14:section name="方法與計分" id="{ebc797ee-4e3d-1df7-2f68-c05c4df73146}">
          <p14:sldIdLst>
            <p14:sldId id="258"/>
            <p14:sldId id="259"/>
          </p14:sldIdLst>
        </p14:section>
        <p14:section name="結果" id="{c2a1a1d6-4fb8-3752-55c3-e9a897c7ebba}">
          <p14:sldIdLst>
            <p14:sldId id="260"/>
            <p14:sldId id="261"/>
            <p14:sldId id="262"/>
          </p14:sldIdLst>
        </p14:section>
        <p14:section name="總結" id="{8e667cbe-8204-042d-9fa7-3fc23575c66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7.6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2024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7.5</c:v>
                </c:pt>
                <c:pt idx="1">
                  <c:v>85</c:v>
                </c:pt>
                <c:pt idx="2">
                  <c:v>7.4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7.4</c:v>
                </c:pt>
                <c:pt idx="1">
                  <c:v>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27.8</c:v>
                </c:pt>
                <c:pt idx="1">
                  <c:v>30.3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27.7</c:v>
                </c:pt>
                <c:pt idx="1">
                  <c:v>29.8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 128,867 個股票日。訓練用 2020 到 2023 年 48,335 筆,測試用 2024 年整年 12,098 筆。2023 年最後 5 個交易日的 250 筆剔除,因為它們的標籤會用到 2024 年的價格,不剔除等於偷看測試期。2016 到 2019 年和 2025 年以後這份報告沒有用到。加起來剛好是 128,867。高點和低點各只佔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這頁說明我們丟進模型的是什麼。一個樣本是 11 個交易日,第 6 天是 t。模型只看前 6 天,也就是 t-5 到 t,這些在 t 日收盤時都已經知道;後 5 天只用來貼標籤,模型看不到。每天取 5 個特徵:開、高、低、收都除以 t 日收盤,量除以 10 日均量。t 日收盤除以自己永遠是 1,所以拿掉,總共 29 個數字。表上是台積電 2024-09-26 的實際數字:前 5 天的價格都在 t 日收盤下方,代表一路往上收到 t 日。訓練時 50 檔股票放在一起,不是每檔一個模型:候選日裡真的是高點的 3,769 天訓練高點模型,真的是低點的 3,651 天訓練低點模型,總共只有 2 組。模型不知道樣本是哪一檔股票,因為價格都除以 t 日收盤、量都除以 10 日均量,不同股票可以放在一起比。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只用一層、不先升維,直接把這 29 個數字壓成 16 維,OC-SVM 在這 16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2024 年測試期的混淆矩陣。看第一列和最後一列:真低點有 84.4% 被判成低點,真高點有 81.6% 被判成高點,而且高點和低點從來不會互相判錯。右邊的表比較三種做法,模型的 acc 是 66.7%,判非極值時 95.5%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7.4%,被我們挑出來的候選是 28 到 30%,大約是 3.7 到 3.9 倍。右邊三個數字:真高低點 1,809 個只有 1 個沒進候選,模型判對 82 到 84%,判非極值時 95.5%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 2024 年測試期:真高低點 1,809 個只有 1 個沒進候選;模型判出的高點和低點從來不會互相搞錯;模型說「這天不是高低點」時 95.5% 是對的;挑出來的候選是真高低點的機率是隨便挑一天的 3.7 到 3.9 倍。模型最後判對了 82% 的真高點和 84%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2024-09-26,t 日收盤 989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2026-09:128,867 個股票日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2016–2019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47,995 筆:沒用到(訓練從 2020 開始)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2020–2023:48,335 筆(剔除 2023 最後 5 天)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 13,866(真 3,769)、低點 11,458(真 3,651)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2024 整年:12,098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2025–2026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20,189 筆:這份報告沒用到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訓練輸入:11 天中的前 6 天,每天 5 個特徵</a:t>
            </a:r>
            <a:endParaRPr lang="en-US" sz="3200" dirty="0"/>
          </a:p>
        </p:txBody>
      </p:sp>
      <p:sp>
        <p:nvSpPr>
          <p:cNvPr id="3" name="day-1"/>
          <p:cNvSpPr/>
          <p:nvPr/>
        </p:nvSpPr>
        <p:spPr>
          <a:xfrm>
            <a:off x="54864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t-5</a:t>
            </a:r>
            <a:endParaRPr lang="en-US" sz="1500" dirty="0"/>
          </a:p>
        </p:txBody>
      </p:sp>
      <p:sp>
        <p:nvSpPr>
          <p:cNvPr id="5" name="day-2"/>
          <p:cNvSpPr/>
          <p:nvPr/>
        </p:nvSpPr>
        <p:spPr>
          <a:xfrm>
            <a:off x="156362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6362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2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t-4</a:t>
            </a:r>
            <a:endParaRPr lang="en-US" sz="1500" dirty="0"/>
          </a:p>
        </p:txBody>
      </p:sp>
      <p:sp>
        <p:nvSpPr>
          <p:cNvPr id="7" name="day-3"/>
          <p:cNvSpPr/>
          <p:nvPr/>
        </p:nvSpPr>
        <p:spPr>
          <a:xfrm>
            <a:off x="257860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860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3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t-3</a:t>
            </a:r>
            <a:endParaRPr lang="en-US" sz="1500" dirty="0"/>
          </a:p>
        </p:txBody>
      </p:sp>
      <p:sp>
        <p:nvSpPr>
          <p:cNvPr id="9" name="day-4"/>
          <p:cNvSpPr/>
          <p:nvPr/>
        </p:nvSpPr>
        <p:spPr>
          <a:xfrm>
            <a:off x="359359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4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t-2</a:t>
            </a:r>
            <a:endParaRPr lang="en-US" sz="1500" dirty="0"/>
          </a:p>
        </p:txBody>
      </p:sp>
      <p:sp>
        <p:nvSpPr>
          <p:cNvPr id="11" name="day-5"/>
          <p:cNvSpPr/>
          <p:nvPr/>
        </p:nvSpPr>
        <p:spPr>
          <a:xfrm>
            <a:off x="460857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857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5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t-1</a:t>
            </a:r>
            <a:endParaRPr lang="en-US" sz="1500" dirty="0"/>
          </a:p>
        </p:txBody>
      </p:sp>
      <p:sp>
        <p:nvSpPr>
          <p:cNvPr id="13" name="day-6"/>
          <p:cNvSpPr/>
          <p:nvPr/>
        </p:nvSpPr>
        <p:spPr>
          <a:xfrm>
            <a:off x="562356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6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500" dirty="0"/>
          </a:p>
        </p:txBody>
      </p:sp>
      <p:sp>
        <p:nvSpPr>
          <p:cNvPr id="15" name="day-7"/>
          <p:cNvSpPr/>
          <p:nvPr/>
        </p:nvSpPr>
        <p:spPr>
          <a:xfrm>
            <a:off x="663854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7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t+1</a:t>
            </a:r>
            <a:endParaRPr lang="en-US" sz="1500" dirty="0"/>
          </a:p>
        </p:txBody>
      </p:sp>
      <p:sp>
        <p:nvSpPr>
          <p:cNvPr id="17" name="day-8"/>
          <p:cNvSpPr/>
          <p:nvPr/>
        </p:nvSpPr>
        <p:spPr>
          <a:xfrm>
            <a:off x="765352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5352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8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t+2</a:t>
            </a:r>
            <a:endParaRPr lang="en-US" sz="1500" dirty="0"/>
          </a:p>
        </p:txBody>
      </p:sp>
      <p:sp>
        <p:nvSpPr>
          <p:cNvPr id="19" name="day-9"/>
          <p:cNvSpPr/>
          <p:nvPr/>
        </p:nvSpPr>
        <p:spPr>
          <a:xfrm>
            <a:off x="866851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6851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9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t+3</a:t>
            </a:r>
            <a:endParaRPr lang="en-US" sz="1500" dirty="0"/>
          </a:p>
        </p:txBody>
      </p:sp>
      <p:sp>
        <p:nvSpPr>
          <p:cNvPr id="21" name="day-10"/>
          <p:cNvSpPr/>
          <p:nvPr/>
        </p:nvSpPr>
        <p:spPr>
          <a:xfrm>
            <a:off x="968349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8349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10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t+4</a:t>
            </a:r>
            <a:endParaRPr lang="en-US" sz="1500" dirty="0"/>
          </a:p>
        </p:txBody>
      </p:sp>
      <p:sp>
        <p:nvSpPr>
          <p:cNvPr id="23" name="day-11"/>
          <p:cNvSpPr/>
          <p:nvPr/>
        </p:nvSpPr>
        <p:spPr>
          <a:xfrm>
            <a:off x="1069848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9848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t+5</a:t>
            </a:r>
            <a:endParaRPr lang="en-US" sz="1500" dirty="0"/>
          </a:p>
        </p:txBody>
      </p:sp>
      <p:sp>
        <p:nvSpPr>
          <p:cNvPr id="25" name="bracket-used"/>
          <p:cNvSpPr/>
          <p:nvPr/>
        </p:nvSpPr>
        <p:spPr>
          <a:xfrm>
            <a:off x="548640" y="2194560"/>
            <a:ext cx="5989320" cy="0"/>
          </a:xfrm>
          <a:prstGeom prst="line">
            <a:avLst/>
          </a:prstGeom>
          <a:noFill/>
          <a:ln w="19050">
            <a:solidFill>
              <a:srgbClr val="13202A"/>
            </a:solidFill>
            <a:prstDash val="solid"/>
          </a:ln>
        </p:spPr>
      </p:sp>
      <p:sp>
        <p:nvSpPr>
          <p:cNvPr id="26" name="bracket-label"/>
          <p:cNvSpPr/>
          <p:nvPr/>
        </p:nvSpPr>
        <p:spPr>
          <a:xfrm>
            <a:off x="6638544" y="2194560"/>
            <a:ext cx="4974336" cy="0"/>
          </a:xfrm>
          <a:prstGeom prst="line">
            <a:avLst/>
          </a:prstGeom>
          <a:noFill/>
          <a:ln w="19050">
            <a:solidFill>
              <a:srgbClr val="C9D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267712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丟進模型:t 日收盤時都已經知道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2267712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不丟進模型:只用來貼標籤(看第 6 天是不是 11 天最高 / 最低)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7406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特徵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算法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−7.4%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最高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−7.8%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−3.7%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拿掉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成交量 ÷ 10 日均量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1.03×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1.89×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0.45×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0.84×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1.24×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1.20×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50292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例:台積電 2024-09-26(第 1 頁的高點)。價格以 % 顯示,模型實際用 ln 值;量的 10 日均量算到 t 日為止。</a:t>
            </a:r>
            <a:endParaRPr lang="en-US" sz="1100" dirty="0"/>
          </a:p>
        </p:txBody>
      </p:sp>
      <p:sp>
        <p:nvSpPr>
          <p:cNvPr id="31" name="count-29"/>
          <p:cNvSpPr/>
          <p:nvPr/>
        </p:nvSpPr>
        <p:spPr>
          <a:xfrm>
            <a:off x="8229600" y="2788920"/>
            <a:ext cx="338328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58200" y="2926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6 天 × 5 − 1 = 29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8458200" y="3566160"/>
            <a:ext cx="3017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 日收盤 ÷ 自己永遠是 1,沒有資訊,拿掉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價格都除以 t 日收盤:只看形狀,不看股價高低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量除以 10 日均量:看這幾天是平常的幾倍</a:t>
            </a:r>
            <a:endParaRPr lang="en-US" sz="1500" dirty="0"/>
          </a:p>
        </p:txBody>
      </p:sp>
      <p:sp>
        <p:nvSpPr>
          <p:cNvPr id="34" name="train-samples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訓練樣本: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50 檔放在一起,不是每檔一個模型。2020–2023 的候選日裡,真高點 3,769 天訓練一組 AE + OC-SVM、真低點 3,651 天訓練另一組,共 2 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16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一層,不先升維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16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16 → 29,把輸入重建回來(MSE,訓練 60 輪);只拿編碼後的 16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訓練樣本:50 檔合在一起,2020–2023 候選中的真高點 3,769 天、真低點 3,651 天;高點、低點各一組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編碼器只有一層 29 → 16(973 個參數);原系統 29 → 58 → 8 → 4 有 4,637 個,兩者結果相同;OC-SVM 的 rbf、nu 0.1 沿用原系統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771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84.4%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1,820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6,562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63.8%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1,907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18.5%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731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81.6%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30.6%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54.2%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95.5%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896 個:判對 731 個(81.6%),沒有一個被判成低點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913 個:判對 771 個(84.4%),沒有一個被判成高點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6,869 天中,6,562 天真的不是高低點(95.5%)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3.7–3.9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99.9% / 100%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81.6% / 84.4%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95.5%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99.9%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895 / 896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913 / 913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95.5%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6,869 天裡 6,562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3.7–3.9×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7.4% → 27.7%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7.5% → 29.8%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2024-01 ~ 2024-12 · TW50 · 12,098 個股票日;模型判對 81.6% 的真高點、84.4%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2026-10-19T18:51:35Z</dcterms:created>
  <dcterms:modified xsi:type="dcterms:W3CDTF">2026-10-19T18:51:35Z</dcterms:modified>
</cp:coreProperties>
</file>