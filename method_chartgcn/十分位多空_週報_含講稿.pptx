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2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1 頁 · 封面 · 約 30 秒】</a:t>
            </a:r>
          </a:p>
          <a:p/>
          <a:p>
            <a:r>
              <a:t>老師好,這禮拜的進度是關於評估方法的轉型。</a:t>
            </a:r>
          </a:p>
          <a:p/>
          <a:p>
            <a:r>
              <a:t>我們前面做了 73 組實驗,全部都是用 Accuracy 在比。但我最近讀到一篇 2023 年發在 Journal of Finance 的論文,發現他們做的事情跟我們幾乎是同一件事,可是評估方式完全不同。</a:t>
            </a:r>
          </a:p>
          <a:p/>
          <a:p>
            <a:r>
              <a:t>所以這禮拜我想報告的是:為什麼要從「猜漲跌」改成「排順序」。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2 頁 · JKX 的方法與我們高度相似 · 約 2 分鐘】</a:t>
            </a:r>
          </a:p>
          <a:p/>
          <a:p>
            <a:r>
              <a:t>先說這篇論文是誰做的。作者是芝加哥大學資工的 Jiang、耶魯的 Bryan Kelly——他同時是 AQR 的研究主管,還有芝加哥 Booth 的 Xiu。這是財金三大期刊之一。</a:t>
            </a:r>
          </a:p>
          <a:p/>
          <a:p>
            <a:r>
              <a:t>那為什麼我要拿這篇來對照?因為他們做的事情跟我們幾乎一模一樣。</a:t>
            </a:r>
          </a:p>
          <a:p/>
          <a:p>
            <a:r>
              <a:t>(逐列指表格)</a:t>
            </a:r>
          </a:p>
          <a:p/>
          <a:p>
            <a:r>
              <a:t>核心命題一樣:圖表型態裡面含有預測資訊。</a:t>
            </a:r>
          </a:p>
          <a:p/>
          <a:p>
            <a:r>
              <a:t>都不預設型態——我們沒有去寫頭肩頂、黃金交叉這些規則,他們也沒有,而且論文裡還特別批評過去那些型態都是「隨便想的」。</a:t>
            </a:r>
          </a:p>
          <a:p/>
          <a:p>
            <a:r>
              <a:t>輸入原料一樣,都是日 OHLC 加成交量。表示法都是把價格變成二維——我們變成張量,他們變成像素圖。</a:t>
            </a:r>
          </a:p>
          <a:p/>
          <a:p>
            <a:r>
              <a:t>模型都是卷積網路,我們三層加 attention,他們兩到四個卷積區塊。標籤一樣,未來漲跌二分類。損失函數也一樣,交叉熵配 Adam。</a:t>
            </a:r>
          </a:p>
          <a:p/>
          <a:p>
            <a:r>
              <a:t>唯一差比較多的是參數量,我們三萬八,他們十五萬到三百萬。</a:t>
            </a:r>
          </a:p>
          <a:p/>
          <a:p>
            <a:r>
              <a:t>所以重點是:方法論上我們跟他們是同一個家族。既然是同一個家族,他們的評估協定我們就應該可以直接拿來用。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3 頁 · JKX 論文的分類結果 · 約 2 分鐘】</a:t>
            </a:r>
          </a:p>
          <a:p/>
          <a:p>
            <a:r>
              <a:t>接下來這頁是我覺得最關鍵的。</a:t>
            </a:r>
          </a:p>
          <a:p/>
          <a:p>
            <a:r>
              <a:t>這是他們論文 Table 2 的樣本外準確率。他們用全美股 CRSP,1993 到 2000 訓練一次,然後模型就凍結,直接跑 2001 到 2019 這十九年,中間完全不重訓。這是非常嚴格的樣本外設定。</a:t>
            </a:r>
          </a:p>
          <a:p/>
          <a:p>
            <a:r>
              <a:t>結果——五日圖 52.5%、二十日圖 53.3%、六十日圖 53.6%。動量對照組 52.1%。</a:t>
            </a:r>
          </a:p>
          <a:p/>
          <a:p>
            <a:r>
              <a:t>【停頓一下,強調】全世界做這題做得最好、資源最多、發在頂刊的這一組,準確率就是 53%。</a:t>
            </a:r>
          </a:p>
          <a:p/>
          <a:p>
            <a:r>
              <a:t>而且他們自己知道這數字很小,所以在論文裡花了半頁去論證為什麼 53% 已經夠用——他們算給你看,準確率每多 1%,擇時策略的年化 Sharpe 大概加 0.1。</a:t>
            </a:r>
          </a:p>
          <a:p/>
          <a:p>
            <a:r>
              <a:t>那對照一下 Chart GCN 宣稱的 69.26%,比這個天花板整整高出 16 個百分點。</a:t>
            </a:r>
          </a:p>
          <a:p/>
          <a:p>
            <a:r>
              <a:t>這件事有兩層意義。第一,我們在台股跑出來的 51 到 54%,不是我們做壞了,那就是這個訊號的真實大小。第二,原論文那個 69.26% 在文獻上站不住腳。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4 頁 · 他們的排序邏輯:十分位多空 · 約 2 分半】</a:t>
            </a:r>
          </a:p>
          <a:p/>
          <a:p>
            <a:r>
              <a:t>那既然準確率只有 53%,他們怎麼能發頂刊?因為他們的主證據根本不是準確率,是排序。</a:t>
            </a:r>
          </a:p>
          <a:p/>
          <a:p>
            <a:r>
              <a:t>流程是這五步:</a:t>
            </a:r>
          </a:p>
          <a:p/>
          <a:p>
            <a:r>
              <a:t>第一步,取機率。模型最後一層是 softmax,會吐出一個 0 到 1 的數字,代表「這檔漲的機率」。我們原本是拿 argmax,大於 0.5 就當猜漲——那等於把 0.51 跟 0.99 當成一樣的東西,信心程度的資訊就丟掉了。他們是直接用那個機率。</a:t>
            </a:r>
          </a:p>
          <a:p/>
          <a:p>
            <a:r>
              <a:t>第二步,排序。把當天全部股票依照這個機率由低到高排隊。</a:t>
            </a:r>
          </a:p>
          <a:p/>
          <a:p>
            <a:r>
              <a:t>第三步,切十等分。</a:t>
            </a:r>
          </a:p>
          <a:p/>
          <a:p>
            <a:r>
              <a:t>第四步,做多機率最高的第 10 分位,放空機率最低的第 1 分位,等權配資金。</a:t>
            </a:r>
          </a:p>
          <a:p/>
          <a:p>
            <a:r>
              <a:t>第五步,持有 h 天之後整批重新排序,而且是不重疊的——月頻策略就每個月底做一次。</a:t>
            </a:r>
          </a:p>
          <a:p/>
          <a:p>
            <a:r>
              <a:t>(指下方說明)</a:t>
            </a:r>
          </a:p>
          <a:p/>
          <a:p>
            <a:r>
              <a:t>那為什麼排序會比猜方向容易?舉個例子:假設某個月大盤崩了,所有股票都跌。第 10 分位平均跌 2%,第 1 分位平均跌 8%。</a:t>
            </a:r>
          </a:p>
          <a:p/>
          <a:p>
            <a:r>
              <a:t>用準確率算——模型說第 10 分位那批會漲,結果全跌,全錯,準確率很難看。</a:t>
            </a:r>
          </a:p>
          <a:p/>
          <a:p>
            <a:r>
              <a:t>但用 H-L 算——負 2 減掉負 8,等於正 6%,賺錢。</a:t>
            </a:r>
          </a:p>
          <a:p/>
          <a:p>
            <a:r>
              <a:t>模型完全猜錯方向,但它把「誰比較抗跌」排對了,這樣就足夠。</a:t>
            </a:r>
          </a:p>
          <a:p/>
          <a:p>
            <a:r>
              <a:t>準確率量的是你會不會看大盤,H-L 量的是你會不會選股。多空對沖之後,大盤的漲跌會互相抵消掉,剩下的才是模型真正的選股能力。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 5 頁 · JKX 的十分位結果 · 約 2 分鐘】</a:t>
            </a:r>
          </a:p>
          <a:p/>
          <a:p>
            <a:r>
              <a:t>這是他們實際跑出來的結果。</a:t>
            </a:r>
          </a:p>
          <a:p/>
          <a:p>
            <a:r>
              <a:t>上面那排是十個分位的年化報酬:負 2、5、7、9、11、11、13、14、15、18。</a:t>
            </a:r>
          </a:p>
          <a:p/>
          <a:p>
            <a:r>
              <a:t>【重點,放慢】重點不是最後那個 H-L 的 21% 或 Sharpe 2.16,是前面這十欄一路遞增、沒有亂跳。</a:t>
            </a:r>
          </a:p>
          <a:p/>
          <a:p>
            <a:r>
              <a:t>為什麼這個比較重要?因為如果訊號是假的、只是靠幾檔離群股票撐起來的,你會看到頭尾兩端很極端、中間一團亂。單調遞增代表模型輸出的那個機率是連續有意義的——機率越高的那一組,後來真的越會漲。</a:t>
            </a:r>
          </a:p>
          <a:p/>
          <a:p>
            <a:r>
              <a:t>下面這張是同期對照,順便看週轉率。</a:t>
            </a:r>
          </a:p>
          <a:p/>
          <a:p>
            <a:r>
              <a:t>CNN 月頻年化 21%,Sharpe 2.16,月週轉率 173%。動量只有 7%,Sharpe 0.25,週轉率 63%。週反轉 18%,Sharpe 1.23,週轉率 167%。</a:t>
            </a:r>
          </a:p>
          <a:p/>
          <a:p>
            <a:r>
              <a:t>注意 CNN 跟週反轉的週轉率幾乎一樣——173 對 167——但績效是它的兩倍。</a:t>
            </a:r>
          </a:p>
          <a:p/>
          <a:p>
            <a:r>
              <a:t>這一欄是他們拿來擋一個關鍵質疑的:「你 Sharpe 高會不會只是因為交易更頻繁?」答案是不會,因為交易頻率一樣,但賺得多一倍。</a:t>
            </a:r>
          </a:p>
          <a:p/>
          <a:p>
            <a:r>
              <a:t>最下面是論文出處,老師如果要看原文可以直接連。</a:t>
            </a:r>
          </a:p>
          <a:p/>
          <a:p>
            <a:r>
              <a:t>(結尾,不在投影片上)以上是這篇論文的方法。我們下一步是把 Chart GCN 的輸出也照這個協定重新評估一次,看我們的十分位圖是不是也是單調的。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onlinelibrary.wiley.com/doi/abs/10.1111/jofi.13268" TargetMode="Externa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4028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1">
                <a:solidFill>
                  <a:srgbClr val="1A1A1A"/>
                </a:solidFill>
                <a:latin typeface="Microsoft JhengHei"/>
                <a:ea typeface="Microsoft JhengHei"/>
              </a:rPr>
              <a:t>從「猜漲跌」到「排順序」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37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0078D4"/>
                </a:solidFill>
                <a:latin typeface="Microsoft JhengHei"/>
                <a:ea typeface="Microsoft JhengHei"/>
              </a:rPr>
              <a:t>Chart GCN 評估協定的轉型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5632704" y="4434840"/>
            <a:ext cx="91440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5A5A"/>
                </a:solidFill>
                <a:latin typeface="Microsoft JhengHei"/>
                <a:ea typeface="Microsoft JhengHei"/>
              </a:rPr>
              <a:t>專題進度週報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5A5A"/>
                </a:solidFill>
                <a:latin typeface="Microsoft JhengHei"/>
                <a:ea typeface="Microsoft JhengHei"/>
              </a:rPr>
              <a:t>2026-08-25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02336"/>
            <a:ext cx="64008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310896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Microsoft JhengHei"/>
                <a:ea typeface="Microsoft JhengHei"/>
              </a:rPr>
              <a:t>JKX 的方法與我們高度相似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60704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5A5A"/>
                </a:solidFill>
                <a:latin typeface="Microsoft JhengHei"/>
                <a:ea typeface="Microsoft JhengHei"/>
              </a:rPr>
              <a:t>同一個大方向:不預設型態,讓卷積網路自己從價格圖表中學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874519"/>
          <a:ext cx="10515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面向</a:t>
                      </a:r>
                    </a:p>
                  </a:txBody>
                  <a:tcPr marL="82296" marR="54864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我們的 Chart GCN</a:t>
                      </a:r>
                    </a:p>
                  </a:txBody>
                  <a:tcPr marL="82296" marR="54864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JKX (JF 2023)</a:t>
                      </a:r>
                    </a:p>
                  </a:txBody>
                  <a:tcPr marL="82296" marR="54864" marT="27432" marB="27432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核心命題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圖表型態含有預測資訊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同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是否預設型態</a:t>
                      </a:r>
                    </a:p>
                  </a:txBody>
                  <a:tcPr marL="82296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否(不用頭肩、黃金交叉)</a:t>
                      </a:r>
                    </a:p>
                  </a:txBody>
                  <a:tcPr marL="82296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否(明確批評 ad hoc 型態)</a:t>
                      </a:r>
                    </a:p>
                  </a:txBody>
                  <a:tcPr marL="82296" marR="54864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輸入原料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日 OHLC + 成交量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日 OHLC + 成交量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表示法家族</a:t>
                      </a:r>
                    </a:p>
                  </a:txBody>
                  <a:tcPr marL="82296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價格 → 二維張量</a:t>
                      </a:r>
                    </a:p>
                  </a:txBody>
                  <a:tcPr marL="82296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價格 → 二維像素圖</a:t>
                      </a:r>
                    </a:p>
                  </a:txBody>
                  <a:tcPr marL="82296" marR="54864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模型家族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Conv2d × 3 + Attention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Conv 區塊 × 2~4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參數量</a:t>
                      </a:r>
                    </a:p>
                  </a:txBody>
                  <a:tcPr marL="82296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38,130</a:t>
                      </a:r>
                    </a:p>
                  </a:txBody>
                  <a:tcPr marL="82296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155K ~ 2.95M</a:t>
                      </a:r>
                    </a:p>
                  </a:txBody>
                  <a:tcPr marL="82296" marR="54864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標籤形式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未來漲跌二分類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未來漲跌二分類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損失函數</a:t>
                      </a:r>
                    </a:p>
                  </a:txBody>
                  <a:tcPr marL="82296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交叉熵 + Adam</a:t>
                      </a:r>
                    </a:p>
                  </a:txBody>
                  <a:tcPr marL="82296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交叉熵 + Adam</a:t>
                      </a:r>
                    </a:p>
                  </a:txBody>
                  <a:tcPr marL="82296" marR="54864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02336"/>
            <a:ext cx="64008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310896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Microsoft JhengHei"/>
                <a:ea typeface="Microsoft JhengHei"/>
              </a:rPr>
              <a:t>JKX 論文的分類結果:準確率只有 53%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60704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5A5A"/>
                </a:solidFill>
                <a:latin typeface="Microsoft JhengHei"/>
                <a:ea typeface="Microsoft JhengHei"/>
              </a:rPr>
              <a:t>Table 2,美股 CRSP 全樣本,1993–2000 訓練一次後凍結,2001–2019 樣本外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965960"/>
          <a:ext cx="49377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圖像長度</a:t>
                      </a:r>
                    </a:p>
                  </a:txBody>
                  <a:tcPr marL="82296" marR="54864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預測 20 日</a:t>
                      </a:r>
                    </a:p>
                  </a:txBody>
                  <a:tcPr marL="82296" marR="54864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預測 60 日</a:t>
                      </a:r>
                    </a:p>
                  </a:txBody>
                  <a:tcPr marL="82296" marR="54864" marT="27432" marB="27432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5 日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52.5%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53.6%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20 日</a:t>
                      </a:r>
                    </a:p>
                  </a:txBody>
                  <a:tcPr marL="82296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53.3%</a:t>
                      </a:r>
                    </a:p>
                  </a:txBody>
                  <a:tcPr marL="82296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53.2%</a:t>
                      </a:r>
                    </a:p>
                  </a:txBody>
                  <a:tcPr marL="82296" marR="54864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60 日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53.6%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52.9%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動量 MOM(對照)</a:t>
                      </a:r>
                    </a:p>
                  </a:txBody>
                  <a:tcPr marL="82296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52.1%</a:t>
                      </a:r>
                    </a:p>
                  </a:txBody>
                  <a:tcPr marL="82296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52.1%</a:t>
                      </a:r>
                    </a:p>
                  </a:txBody>
                  <a:tcPr marL="82296" marR="54864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4297680"/>
            <a:ext cx="10698480" cy="855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dirty="0">
                <a:solidFill>
                  <a:srgbClr val="1A1A1A"/>
                </a:solidFill>
                <a:latin typeface="Microsoft JhengHei"/>
                <a:ea typeface="Microsoft JhengHei"/>
              </a:rPr>
              <a:t>JKX 花了半頁論證「53% </a:t>
            </a:r>
            <a:r>
              <a:rPr sz="1800" b="0" dirty="0" err="1">
                <a:solidFill>
                  <a:srgbClr val="1A1A1A"/>
                </a:solidFill>
                <a:latin typeface="Microsoft JhengHei"/>
                <a:ea typeface="Microsoft JhengHei"/>
              </a:rPr>
              <a:t>已經夠用</a:t>
            </a:r>
            <a:r>
              <a:rPr sz="1800" b="0" dirty="0">
                <a:solidFill>
                  <a:srgbClr val="1A1A1A"/>
                </a:solidFill>
                <a:latin typeface="Microsoft JhengHei"/>
                <a:ea typeface="Microsoft JhengHei"/>
              </a:rPr>
              <a:t>」:</a:t>
            </a:r>
            <a:r>
              <a:rPr sz="1800" b="0" dirty="0" err="1">
                <a:solidFill>
                  <a:srgbClr val="1A1A1A"/>
                </a:solidFill>
                <a:latin typeface="Microsoft JhengHei"/>
                <a:ea typeface="Microsoft JhengHei"/>
              </a:rPr>
              <a:t>準確率每</a:t>
            </a:r>
            <a:r>
              <a:rPr sz="1800" b="0" dirty="0">
                <a:solidFill>
                  <a:srgbClr val="1A1A1A"/>
                </a:solidFill>
                <a:latin typeface="Microsoft JhengHei"/>
                <a:ea typeface="Microsoft JhengHei"/>
              </a:rPr>
              <a:t> +1%,擇時策略年化 Sharpe 約 +0.1。</a:t>
            </a:r>
          </a:p>
          <a:p>
            <a:pPr algn="l">
              <a:lnSpc>
                <a:spcPct val="135000"/>
              </a:lnSpc>
            </a:pPr>
            <a:r>
              <a:rPr sz="2100" b="1" dirty="0">
                <a:solidFill>
                  <a:srgbClr val="D13438"/>
                </a:solidFill>
                <a:latin typeface="Microsoft JhengHei"/>
                <a:ea typeface="Microsoft JhengHei"/>
              </a:rPr>
              <a:t>Chart GCN </a:t>
            </a:r>
            <a:r>
              <a:rPr sz="2100" b="1" dirty="0" err="1">
                <a:solidFill>
                  <a:srgbClr val="D13438"/>
                </a:solidFill>
                <a:latin typeface="Microsoft JhengHei"/>
                <a:ea typeface="Microsoft JhengHei"/>
              </a:rPr>
              <a:t>宣稱的</a:t>
            </a:r>
            <a:r>
              <a:rPr sz="2100" b="1" dirty="0">
                <a:solidFill>
                  <a:srgbClr val="D13438"/>
                </a:solidFill>
                <a:latin typeface="Microsoft JhengHei"/>
                <a:ea typeface="Microsoft JhengHei"/>
              </a:rPr>
              <a:t> 69.26%,比 JKX </a:t>
            </a:r>
            <a:r>
              <a:rPr sz="2100" b="1" dirty="0" err="1">
                <a:solidFill>
                  <a:srgbClr val="D13438"/>
                </a:solidFill>
                <a:latin typeface="Microsoft JhengHei"/>
                <a:ea typeface="Microsoft JhengHei"/>
              </a:rPr>
              <a:t>的天花板高出</a:t>
            </a:r>
            <a:r>
              <a:rPr sz="2100" b="1" dirty="0">
                <a:solidFill>
                  <a:srgbClr val="D13438"/>
                </a:solidFill>
                <a:latin typeface="Microsoft JhengHei"/>
                <a:ea typeface="Microsoft JhengHei"/>
              </a:rPr>
              <a:t> 16。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02336"/>
            <a:ext cx="64008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310896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Microsoft JhengHei"/>
                <a:ea typeface="Microsoft JhengHei"/>
              </a:rPr>
              <a:t>他們的排序邏輯:十分位多空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60704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5A5A"/>
                </a:solidFill>
                <a:latin typeface="Microsoft JhengHei"/>
                <a:ea typeface="Microsoft JhengHei"/>
              </a:rPr>
              <a:t>把「二分類 → 數對幾次」換成「機率 → 橫斷面排序」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1874519"/>
            <a:ext cx="402336" cy="402336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82879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取機率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847088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5A5A"/>
                </a:solidFill>
                <a:latin typeface="Microsoft JhengHei"/>
                <a:ea typeface="Microsoft JhengHei"/>
              </a:rPr>
              <a:t>對當日每一檔股票輸出 softmax P(漲),而不是只取 argmax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496312"/>
            <a:ext cx="402336" cy="402336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45059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排序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2468880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5A5A"/>
                </a:solidFill>
                <a:latin typeface="Microsoft JhengHei"/>
                <a:ea typeface="Microsoft JhengHei"/>
              </a:rPr>
              <a:t>把當日全部股票依 P(漲) 由低到高排隊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118104"/>
            <a:ext cx="402336" cy="402336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07238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切十等分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3090672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5A5A"/>
                </a:solidFill>
                <a:latin typeface="Microsoft JhengHei"/>
                <a:ea typeface="Microsoft JhengHei"/>
              </a:rPr>
              <a:t>每一分位放同樣多檔股票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739896"/>
            <a:ext cx="402336" cy="402336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69417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建立部位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3712463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5A5A"/>
                </a:solidFill>
                <a:latin typeface="Microsoft JhengHei"/>
                <a:ea typeface="Microsoft JhengHei"/>
              </a:rPr>
              <a:t>做多第 10 分位(最看好)、放空第 1 分位(最看壞),等權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4361688"/>
            <a:ext cx="402336" cy="402336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31596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持有並重排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4334255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5A5A"/>
                </a:solidFill>
                <a:latin typeface="Microsoft JhengHei"/>
                <a:ea typeface="Microsoft JhengHei"/>
              </a:rPr>
              <a:t>持有 h 個交易日後整批重新排序(不重疊)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074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1A1A1A"/>
                </a:solidFill>
                <a:latin typeface="Microsoft JhengHei"/>
                <a:ea typeface="Microsoft JhengHei"/>
              </a:rPr>
              <a:t>為什麼比猜方向容易:大盤下跌時,第 10 分位 -2%、第 1 分位 -8% → 準確率全錯,但 H-L = +6%。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5A5A5A"/>
                </a:solidFill>
                <a:latin typeface="Microsoft JhengHei"/>
                <a:ea typeface="Microsoft JhengHei"/>
              </a:rPr>
              <a:t>多空對沖後大盤漲跌被消掉 —— Accuracy 量的是「會不會看大盤」,H-L 量的是「會不會選股」。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053328"/>
            <a:ext cx="11064240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tlCol="0" anchor="ctr"/>
          <a:lstStyle/>
          <a:p>
            <a:pPr algn="l"/>
            <a:r>
              <a:rPr sz="1400" b="1">
                <a:solidFill>
                  <a:srgbClr val="0078D4"/>
                </a:solidFill>
                <a:latin typeface="Microsoft JhengHei"/>
                <a:ea typeface="Microsoft JhengHei"/>
              </a:rPr>
              <a:t>H-L 報酬 = 第 10 分位平均報酬 − 第 1 分位平均報酬。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928" y="402336"/>
            <a:ext cx="64008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310896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Microsoft JhengHei"/>
                <a:ea typeface="Microsoft JhengHei"/>
              </a:rPr>
              <a:t>JKX 的十分位結果:報酬單調遞增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60704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5A5A"/>
                </a:solidFill>
                <a:latin typeface="Microsoft JhengHei"/>
                <a:ea typeface="Microsoft JhengHei"/>
              </a:rPr>
              <a:t>Table 3,20 日圖 → 20 日報酬(I20/R20),等權,月頻再平衡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874519"/>
          <a:ext cx="10744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分位</a:t>
                      </a:r>
                    </a:p>
                  </a:txBody>
                  <a:tcPr marL="82296" marR="54864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1</a:t>
                      </a:r>
                    </a:p>
                  </a:txBody>
                  <a:tcPr marL="82296" marR="54864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2</a:t>
                      </a:r>
                    </a:p>
                  </a:txBody>
                  <a:tcPr marL="82296" marR="54864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3</a:t>
                      </a:r>
                    </a:p>
                  </a:txBody>
                  <a:tcPr marL="82296" marR="54864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 marL="82296" marR="54864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5</a:t>
                      </a:r>
                    </a:p>
                  </a:txBody>
                  <a:tcPr marL="82296" marR="54864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6</a:t>
                      </a:r>
                    </a:p>
                  </a:txBody>
                  <a:tcPr marL="82296" marR="54864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7</a:t>
                      </a:r>
                    </a:p>
                  </a:txBody>
                  <a:tcPr marL="82296" marR="54864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8</a:t>
                      </a:r>
                    </a:p>
                  </a:txBody>
                  <a:tcPr marL="82296" marR="54864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9</a:t>
                      </a:r>
                    </a:p>
                  </a:txBody>
                  <a:tcPr marL="82296" marR="54864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10</a:t>
                      </a:r>
                    </a:p>
                  </a:txBody>
                  <a:tcPr marL="82296" marR="54864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H-L</a:t>
                      </a:r>
                    </a:p>
                  </a:txBody>
                  <a:tcPr marL="82296" marR="54864" marT="27432" marB="27432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年化報酬 %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-2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5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7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9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11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11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13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14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15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18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+21***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Sharpe</a:t>
                      </a:r>
                    </a:p>
                  </a:txBody>
                  <a:tcPr marL="82296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-0.12</a:t>
                      </a:r>
                    </a:p>
                  </a:txBody>
                  <a:tcPr marL="82296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0.28</a:t>
                      </a:r>
                    </a:p>
                  </a:txBody>
                  <a:tcPr marL="82296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0.39</a:t>
                      </a:r>
                    </a:p>
                  </a:txBody>
                  <a:tcPr marL="82296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0.49</a:t>
                      </a:r>
                    </a:p>
                  </a:txBody>
                  <a:tcPr marL="82296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0.59</a:t>
                      </a:r>
                    </a:p>
                  </a:txBody>
                  <a:tcPr marL="82296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0.59</a:t>
                      </a:r>
                    </a:p>
                  </a:txBody>
                  <a:tcPr marL="82296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0.74</a:t>
                      </a:r>
                    </a:p>
                  </a:txBody>
                  <a:tcPr marL="82296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0.81</a:t>
                      </a:r>
                    </a:p>
                  </a:txBody>
                  <a:tcPr marL="82296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0.87</a:t>
                      </a:r>
                    </a:p>
                  </a:txBody>
                  <a:tcPr marL="82296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1.04</a:t>
                      </a:r>
                    </a:p>
                  </a:txBody>
                  <a:tcPr marL="82296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2.16</a:t>
                      </a:r>
                    </a:p>
                  </a:txBody>
                  <a:tcPr marL="82296" marR="54864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352044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同期對照(H-L,等權)</a:t>
                      </a:r>
                    </a:p>
                  </a:txBody>
                  <a:tcPr marL="82296" marR="54864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年化報酬</a:t>
                      </a:r>
                    </a:p>
                  </a:txBody>
                  <a:tcPr marL="82296" marR="54864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Sharpe</a:t>
                      </a:r>
                    </a:p>
                  </a:txBody>
                  <a:tcPr marL="82296" marR="54864" marT="27432" marB="27432" anchor="ctr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月週轉率</a:t>
                      </a:r>
                    </a:p>
                  </a:txBody>
                  <a:tcPr marL="82296" marR="54864" marT="27432" marB="27432" anchor="ctr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78D4"/>
                          </a:solidFill>
                          <a:latin typeface="Microsoft JhengHei"/>
                          <a:ea typeface="Microsoft JhengHei"/>
                        </a:rPr>
                        <a:t>CNN I20/R20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78D4"/>
                          </a:solidFill>
                          <a:latin typeface="Microsoft JhengHei"/>
                          <a:ea typeface="Microsoft JhengHei"/>
                        </a:rPr>
                        <a:t>+21%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78D4"/>
                          </a:solidFill>
                          <a:latin typeface="Microsoft JhengHei"/>
                          <a:ea typeface="Microsoft JhengHei"/>
                        </a:rPr>
                        <a:t>2.16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78D4"/>
                          </a:solidFill>
                          <a:latin typeface="Microsoft JhengHei"/>
                          <a:ea typeface="Microsoft JhengHei"/>
                        </a:rPr>
                        <a:t>173%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動量 MOM</a:t>
                      </a:r>
                    </a:p>
                  </a:txBody>
                  <a:tcPr marL="82296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+7%</a:t>
                      </a:r>
                    </a:p>
                  </a:txBody>
                  <a:tcPr marL="82296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0.25</a:t>
                      </a:r>
                    </a:p>
                  </a:txBody>
                  <a:tcPr marL="82296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63%</a:t>
                      </a:r>
                    </a:p>
                  </a:txBody>
                  <a:tcPr marL="82296" marR="54864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短期反轉 STR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+11%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0.55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168%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週反轉 WSTR</a:t>
                      </a:r>
                    </a:p>
                  </a:txBody>
                  <a:tcPr marL="82296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+18%</a:t>
                      </a:r>
                    </a:p>
                  </a:txBody>
                  <a:tcPr marL="82296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1.23</a:t>
                      </a:r>
                    </a:p>
                  </a:txBody>
                  <a:tcPr marL="82296" marR="54864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167%</a:t>
                      </a:r>
                    </a:p>
                  </a:txBody>
                  <a:tcPr marL="82296" marR="54864" marT="27432" marB="2743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5440680"/>
            <a:ext cx="11064240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tlCol="0" anchor="ctr"/>
          <a:lstStyle/>
          <a:p>
            <a:pPr algn="l"/>
            <a:r>
              <a:rPr sz="1400" b="1">
                <a:solidFill>
                  <a:srgbClr val="0078D4"/>
                </a:solidFill>
                <a:latin typeface="Microsoft JhengHei"/>
                <a:ea typeface="Microsoft JhengHei"/>
              </a:rPr>
              <a:t>重點不是 Sharpe 2.16,而是前十欄「一路遞增、沒有亂跳」—— 這代表機率是連續有意義的。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14476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5A"/>
                </a:solidFill>
                <a:latin typeface="Microsoft JhengHei"/>
                <a:ea typeface="Microsoft JhengHei"/>
              </a:rPr>
              <a:t>論文出處:Jiang, J., Kelly, B., &amp; Xiu, D. (2023). (Re-)Imag(in)ing Price Trends. Journal of Finance, 78(6). </a:t>
            </a:r>
            <a:r>
              <a:rPr sz="1200" b="0">
                <a:solidFill>
                  <a:srgbClr val="0078D4"/>
                </a:solidFill>
                <a:latin typeface="Microsoft JhengHei"/>
                <a:ea typeface="Microsoft JhengHei"/>
                <a:hlinkClick r:id="rId2"/>
              </a:rPr>
              <a:t>https://onlinelibrary.wiley.com/doi/abs/10.1111/jofi.13268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439</Words>
  <Application>Microsoft Office PowerPoint</Application>
  <PresentationFormat>寬螢幕</PresentationFormat>
  <Paragraphs>132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9" baseType="lpstr"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郭家齊</cp:lastModifiedBy>
  <cp:revision>2</cp:revision>
  <dcterms:created xsi:type="dcterms:W3CDTF">2013-01-27T09:14:16Z</dcterms:created>
  <dcterms:modified xsi:type="dcterms:W3CDTF">2026-08-24T19:04:21Z</dcterms:modified>
  <cp:category/>
</cp:coreProperties>
</file>